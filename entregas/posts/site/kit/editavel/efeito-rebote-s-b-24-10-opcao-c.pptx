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C · Pergunta na capa: como sei que chegou? · </a:t>
            </a:r>
          </a:p>
          <a:p>
            <a:r>
              <a:t>Como saber se a sua doação chegou?</a:t>
            </a:r>
          </a:p>
          <a:p/>
          <a:p>
            <a:r>
              <a:t>LEGENDA PRONTA</a:t>
            </a:r>
          </a:p>
          <a:p>
            <a:r>
              <a:t>Prometemos mostrar para onde vai cada item doado. É assim que vamos fazer.</a:t>
            </a:r>
          </a:p>
          <a:p/>
          <a:p>
            <a:r>
              <a:t>A equipe de Triagem conta item por item, as compras feitas com doações em dinheiro têm nota fiscal, e o Financeiro registra cada entrada e saída numa planilha. Em 10/11, publicamos o total entregue em cada unidade prisional de Maringá.</a:t>
            </a:r>
          </a:p>
          <a:p/>
          <a:p>
            <a:r>
              <a:t>Pontos de coleta: [PENDENTE: pontos de coleta, dias e horários]</a:t>
            </a:r>
          </a:p>
          <a:p/>
          <a:p>
            <a:r>
              <a:t>Doe um item da lista no ponto de coleta mais perto de você.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4105488"/>
            <a:ext cx="2182832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Transparência</a:t>
            </a:r>
          </a:p>
        </p:txBody>
      </p:sp>
      <p:sp>
        <p:nvSpPr>
          <p:cNvPr id="10" name="Texto: h1"/>
          <p:cNvSpPr txBox="1"/>
          <p:nvPr/>
        </p:nvSpPr>
        <p:spPr>
          <a:xfrm>
            <a:off x="915442" y="4645732"/>
            <a:ext cx="7163246" cy="3689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Como saber se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a sua doação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chegou?</a:t>
            </a:r>
          </a:p>
        </p:txBody>
      </p:sp>
      <p:sp>
        <p:nvSpPr>
          <p:cNvPr id="11" name="Texto: lead"/>
          <p:cNvSpPr txBox="1"/>
          <p:nvPr/>
        </p:nvSpPr>
        <p:spPr>
          <a:xfrm>
            <a:off x="915442" y="8835292"/>
            <a:ext cx="6011620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Três registros e uma data para conferir.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3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924967" y="4647754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1243012" y="4924723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924967" y="6112520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1243012" y="6566595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4967" y="7931497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1243012" y="8385572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068" y="11534180"/>
            <a:ext cx="380554" cy="380554"/>
          </a:xfrm>
          <a:prstGeom prst="rect">
            <a:avLst/>
          </a:prstGeom>
        </p:spPr>
      </p:pic>
      <p:sp>
        <p:nvSpPr>
          <p:cNvPr id="9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orma: on"/>
          <p:cNvSpPr/>
          <p:nvPr/>
        </p:nvSpPr>
        <p:spPr>
          <a:xfrm>
            <a:off x="830341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o: tag"/>
          <p:cNvSpPr txBox="1"/>
          <p:nvPr/>
        </p:nvSpPr>
        <p:spPr>
          <a:xfrm>
            <a:off x="915442" y="1018941"/>
            <a:ext cx="1852627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Os registros</a:t>
            </a:r>
          </a:p>
        </p:txBody>
      </p:sp>
      <p:sp>
        <p:nvSpPr>
          <p:cNvPr id="15" name="Texto: h2"/>
          <p:cNvSpPr txBox="1"/>
          <p:nvPr/>
        </p:nvSpPr>
        <p:spPr>
          <a:xfrm>
            <a:off x="915442" y="3228929"/>
            <a:ext cx="7352824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O que fica guardado</a:t>
            </a:r>
          </a:p>
        </p:txBody>
      </p:sp>
      <p:sp>
        <p:nvSpPr>
          <p:cNvPr id="16" name="Texto: span"/>
          <p:cNvSpPr txBox="1"/>
          <p:nvPr/>
        </p:nvSpPr>
        <p:spPr>
          <a:xfrm>
            <a:off x="1488378" y="5048776"/>
            <a:ext cx="19521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</a:t>
            </a:r>
          </a:p>
        </p:txBody>
      </p:sp>
      <p:sp>
        <p:nvSpPr>
          <p:cNvPr id="17" name="Texto: it"/>
          <p:cNvSpPr txBox="1"/>
          <p:nvPr/>
        </p:nvSpPr>
        <p:spPr>
          <a:xfrm>
            <a:off x="2175867" y="5034221"/>
            <a:ext cx="7293560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A contagem da Triagem, item por item</a:t>
            </a:r>
          </a:p>
        </p:txBody>
      </p:sp>
      <p:sp>
        <p:nvSpPr>
          <p:cNvPr id="18" name="Texto: span"/>
          <p:cNvSpPr txBox="1"/>
          <p:nvPr/>
        </p:nvSpPr>
        <p:spPr>
          <a:xfrm>
            <a:off x="1456283" y="6690648"/>
            <a:ext cx="259556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2</a:t>
            </a:r>
          </a:p>
        </p:txBody>
      </p:sp>
      <p:sp>
        <p:nvSpPr>
          <p:cNvPr id="19" name="Texto: it"/>
          <p:cNvSpPr txBox="1"/>
          <p:nvPr/>
        </p:nvSpPr>
        <p:spPr>
          <a:xfrm>
            <a:off x="2175867" y="6416090"/>
            <a:ext cx="6495089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As notas fiscais das compras feitas com doações em dinheiro</a:t>
            </a:r>
          </a:p>
        </p:txBody>
      </p:sp>
      <p:sp>
        <p:nvSpPr>
          <p:cNvPr id="20" name="Texto: span"/>
          <p:cNvSpPr txBox="1"/>
          <p:nvPr/>
        </p:nvSpPr>
        <p:spPr>
          <a:xfrm>
            <a:off x="1456618" y="8509625"/>
            <a:ext cx="25873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3</a:t>
            </a:r>
          </a:p>
        </p:txBody>
      </p:sp>
      <p:sp>
        <p:nvSpPr>
          <p:cNvPr id="21" name="Texto: it"/>
          <p:cNvSpPr txBox="1"/>
          <p:nvPr/>
        </p:nvSpPr>
        <p:spPr>
          <a:xfrm>
            <a:off x="2175867" y="8235068"/>
            <a:ext cx="6690946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A planilha do Financeiro, com cada entrada e saída</a:t>
            </a:r>
          </a:p>
        </p:txBody>
      </p:sp>
      <p:sp>
        <p:nvSpPr>
          <p:cNvPr id="22" name="Texto: ponte"/>
          <p:cNvSpPr txBox="1"/>
          <p:nvPr/>
        </p:nvSpPr>
        <p:spPr>
          <a:xfrm>
            <a:off x="915442" y="11496457"/>
            <a:ext cx="2817376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quando eu vejo?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599" y="11534031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532614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o: tag"/>
          <p:cNvSpPr txBox="1"/>
          <p:nvPr/>
        </p:nvSpPr>
        <p:spPr>
          <a:xfrm>
            <a:off x="915442" y="1018941"/>
            <a:ext cx="1019339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A data</a:t>
            </a:r>
          </a:p>
        </p:txBody>
      </p:sp>
      <p:sp>
        <p:nvSpPr>
          <p:cNvPr id="9" name="Texto: num"/>
          <p:cNvSpPr txBox="1"/>
          <p:nvPr/>
        </p:nvSpPr>
        <p:spPr>
          <a:xfrm>
            <a:off x="915442" y="2442386"/>
            <a:ext cx="4989984" cy="243081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14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2518" lang="pt-BR" spc="-676">
                <a:solidFill>
                  <a:srgbClr val="B5121B"/>
                </a:solidFill>
                <a:latin typeface="Barlow Condensed"/>
                <a:ea typeface="Barlow Condensed"/>
                <a:cs typeface="Barlow Condensed"/>
              </a:rPr>
              <a:t>10/11</a:t>
            </a:r>
          </a:p>
        </p:txBody>
      </p:sp>
      <p:sp>
        <p:nvSpPr>
          <p:cNvPr id="10" name="Texto: h2"/>
          <p:cNvSpPr txBox="1"/>
          <p:nvPr/>
        </p:nvSpPr>
        <p:spPr>
          <a:xfrm>
            <a:off x="915442" y="5672937"/>
            <a:ext cx="5732577" cy="14194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5702" lang="pt-BR" spc="-86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prestação de</a:t>
            </a:r>
            <a:br/>
            <a:r>
              <a:rPr b="1" i="0" sz="5702" lang="pt-BR" spc="-86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contas, por unidade.</a:t>
            </a:r>
          </a:p>
        </p:txBody>
      </p:sp>
      <p:sp>
        <p:nvSpPr>
          <p:cNvPr id="11" name="Texto: p"/>
          <p:cNvSpPr txBox="1"/>
          <p:nvPr/>
        </p:nvSpPr>
        <p:spPr>
          <a:xfrm>
            <a:off x="915442" y="7586177"/>
            <a:ext cx="8553456" cy="1656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Total de itens entregues na Penitenciária Estadual, na Casa de Custódia e na Colônia Penal Industrial.</a:t>
            </a:r>
          </a:p>
        </p:txBody>
      </p:sp>
      <p:sp>
        <p:nvSpPr>
          <p:cNvPr id="12" name="Texto: fonte"/>
          <p:cNvSpPr txBox="1"/>
          <p:nvPr/>
        </p:nvSpPr>
        <p:spPr>
          <a:xfrm>
            <a:off x="915442" y="9605616"/>
            <a:ext cx="2583760" cy="3332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944" lang="pt-BR">
                <a:solidFill>
                  <a:srgbClr val="4A5568"/>
                </a:solidFill>
                <a:latin typeface="Barlow"/>
                <a:ea typeface="Barlow"/>
                <a:cs typeface="Barlow"/>
              </a:rPr>
              <a:t>Calendário do projeto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308"/>
            <a:ext cx="2044660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onde doar?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6144518"/>
            <a:ext cx="8437066" cy="1884462"/>
          </a:xfrm>
          <a:prstGeom prst="roundRect">
            <a:avLst>
              <a:gd name="adj" fmla="val 10412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180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32614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: on"/>
          <p:cNvSpPr/>
          <p:nvPr/>
        </p:nvSpPr>
        <p:spPr>
          <a:xfrm>
            <a:off x="876180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1018941"/>
            <a:ext cx="1574155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Onde doar</a:t>
            </a:r>
          </a:p>
        </p:txBody>
      </p:sp>
      <p:sp>
        <p:nvSpPr>
          <p:cNvPr id="10" name="Texto: h2"/>
          <p:cNvSpPr txBox="1"/>
          <p:nvPr/>
        </p:nvSpPr>
        <p:spPr>
          <a:xfrm>
            <a:off x="915442" y="4725694"/>
            <a:ext cx="6147911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Pontos de coleta</a:t>
            </a:r>
          </a:p>
        </p:txBody>
      </p:sp>
      <p:sp>
        <p:nvSpPr>
          <p:cNvPr id="11" name="Texto: box"/>
          <p:cNvSpPr txBox="1"/>
          <p:nvPr/>
        </p:nvSpPr>
        <p:spPr>
          <a:xfrm>
            <a:off x="1353145" y="6570723"/>
            <a:ext cx="7254633" cy="110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[PENDENTE: pontos de coleta, dias e horários]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457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589883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1185416" y="8332738"/>
            <a:ext cx="7916019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4403906" y="5369931"/>
            <a:ext cx="1479039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Na quinta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2047942" y="5989989"/>
            <a:ext cx="6190967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Por que a família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paga a conta.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1233480" y="8572105"/>
            <a:ext cx="7819891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Doe um item da lista no ponto de coleta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Sáb 24/10: Como saber se a sua doação chegou?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