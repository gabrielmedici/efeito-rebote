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Opção B · Verdade ou mito: 4 frases sobre prisão · </a:t>
            </a:r>
          </a:p>
          <a:p>
            <a:r>
              <a:t>4 frases sobre prisão que muita gente repete.</a:t>
            </a:r>
          </a:p>
          <a:p/>
          <a:p>
            <a:r>
              <a:t>LEGENDA PRONTA</a:t>
            </a:r>
          </a:p>
          <a:p>
            <a:r>
              <a:t>Quantas dessas você acertou? Existe prisão perpétua no Brasil? Estudar diminui a pena? A lei manda entregar escova de dente? Reincidir é só voltar a ser preso?</a:t>
            </a:r>
          </a:p>
          <a:p/>
          <a:p>
            <a:r>
              <a:t>A Constituição proíbe penas perpétuas e o Código Penal limita o cumprimento a 40 anos. A Lei de Execução Penal reduz 1 dia de pena a cada 12 horas de estudo. O art. 12 da mesma lei fala em instalações higiênicas, sem listar escova. E, para o Código Penal, reincidir é cometer novo crime depois de uma condenação definitiva.</a:t>
            </a:r>
          </a:p>
          <a:p/>
          <a:p>
            <a:r>
              <a:t>Salve para consultar depois. Na terça, o que a Defensoria Pública encontrou em Maringá.</a:t>
            </a:r>
          </a:p>
          <a:p/>
          <a:p>
            <a:r>
              <a:t>#EfeitoRebote #SistemaPrisional #ExecuçãoPenal #DireitosHumanos #ExtensãoUniversitária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442" y="1049238"/>
            <a:ext cx="1429792" cy="1429792"/>
          </a:xfrm>
          <a:prstGeom prst="rect">
            <a:avLst/>
          </a:prstGeom>
        </p:spPr>
      </p:pic>
      <p:pic>
        <p:nvPicPr>
          <p:cNvPr id="3" name="Seta" descr="Se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468" y="11534180"/>
            <a:ext cx="380554" cy="380554"/>
          </a:xfrm>
          <a:prstGeom prst="rect">
            <a:avLst/>
          </a:prstGeom>
        </p:spPr>
      </p:pic>
      <p:sp>
        <p:nvSpPr>
          <p:cNvPr id="4" name="Forma: on"/>
          <p:cNvSpPr/>
          <p:nvPr/>
        </p:nvSpPr>
        <p:spPr>
          <a:xfrm>
            <a:off x="7845028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321129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55032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o: tag"/>
          <p:cNvSpPr txBox="1"/>
          <p:nvPr/>
        </p:nvSpPr>
        <p:spPr>
          <a:xfrm>
            <a:off x="915442" y="4105488"/>
            <a:ext cx="2634675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Verdade ou mito?</a:t>
            </a:r>
          </a:p>
        </p:txBody>
      </p:sp>
      <p:sp>
        <p:nvSpPr>
          <p:cNvPr id="11" name="Texto: h1"/>
          <p:cNvSpPr txBox="1"/>
          <p:nvPr/>
        </p:nvSpPr>
        <p:spPr>
          <a:xfrm>
            <a:off x="915442" y="4645732"/>
            <a:ext cx="8164011" cy="36897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84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4 frases sobre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prisão que muita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gente repete.</a:t>
            </a:r>
          </a:p>
        </p:txBody>
      </p:sp>
      <p:sp>
        <p:nvSpPr>
          <p:cNvPr id="12" name="Texto: lead"/>
          <p:cNvSpPr txBox="1"/>
          <p:nvPr/>
        </p:nvSpPr>
        <p:spPr>
          <a:xfrm>
            <a:off x="915442" y="8835292"/>
            <a:ext cx="5196786" cy="1040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E8EBF4"/>
                </a:solidFill>
                <a:latin typeface="Barlow"/>
                <a:ea typeface="Barlow"/>
                <a:cs typeface="Barlow"/>
              </a:rPr>
              <a:t>A resposta de cada uma está na lei.</a:t>
            </a:r>
          </a:p>
        </p:txBody>
      </p:sp>
      <p:sp>
        <p:nvSpPr>
          <p:cNvPr id="13" name="Texto: ponte"/>
          <p:cNvSpPr txBox="1"/>
          <p:nvPr/>
        </p:nvSpPr>
        <p:spPr>
          <a:xfrm>
            <a:off x="915442" y="11496457"/>
            <a:ext cx="12107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E9C46A"/>
                </a:solidFill>
                <a:latin typeface="Barlow Condensed"/>
                <a:ea typeface="Barlow Condensed"/>
                <a:cs typeface="Barlow Condensed"/>
              </a:rPr>
              <a:t>Arraste</a:t>
            </a:r>
          </a:p>
        </p:txBody>
      </p:sp>
      <p:pic>
        <p:nvPicPr>
          <p:cNvPr id="14" name="Seta de rebote" descr="Seta de rebote, marca do proje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: box"/>
          <p:cNvSpPr/>
          <p:nvPr/>
        </p:nvSpPr>
        <p:spPr>
          <a:xfrm>
            <a:off x="924967" y="6335167"/>
            <a:ext cx="8437066" cy="2436614"/>
          </a:xfrm>
          <a:prstGeom prst="roundRect">
            <a:avLst>
              <a:gd name="adj" fmla="val 8052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336" y="11534180"/>
            <a:ext cx="380554" cy="380554"/>
          </a:xfrm>
          <a:prstGeom prst="rect">
            <a:avLst/>
          </a:prstGeom>
        </p:spPr>
      </p:pic>
      <p:sp>
        <p:nvSpPr>
          <p:cNvPr id="4" name="Forma"/>
          <p:cNvSpPr/>
          <p:nvPr/>
        </p:nvSpPr>
        <p:spPr>
          <a:xfrm>
            <a:off x="7845028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: on"/>
          <p:cNvSpPr/>
          <p:nvPr/>
        </p:nvSpPr>
        <p:spPr>
          <a:xfrm>
            <a:off x="8074223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55032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o: tag"/>
          <p:cNvSpPr txBox="1"/>
          <p:nvPr/>
        </p:nvSpPr>
        <p:spPr>
          <a:xfrm>
            <a:off x="915442" y="1018941"/>
            <a:ext cx="1036856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1 · Mito</a:t>
            </a:r>
          </a:p>
        </p:txBody>
      </p:sp>
      <p:sp>
        <p:nvSpPr>
          <p:cNvPr id="11" name="Texto: h2"/>
          <p:cNvSpPr txBox="1"/>
          <p:nvPr/>
        </p:nvSpPr>
        <p:spPr>
          <a:xfrm>
            <a:off x="915442" y="3982893"/>
            <a:ext cx="7318281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“Existe prisão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perpétua no Brasil.”</a:t>
            </a:r>
          </a:p>
        </p:txBody>
      </p:sp>
      <p:sp>
        <p:nvSpPr>
          <p:cNvPr id="12" name="Texto: box"/>
          <p:cNvSpPr txBox="1"/>
          <p:nvPr/>
        </p:nvSpPr>
        <p:spPr>
          <a:xfrm>
            <a:off x="1353145" y="6761372"/>
            <a:ext cx="7743682" cy="16566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A </a:t>
            </a:r>
            <a:r>
              <a:rPr b="1" i="0" sz="3150" lang="pt-BR">
                <a:solidFill>
                  <a:srgbClr val="1B3A8C"/>
                </a:solidFill>
                <a:latin typeface="Barlow"/>
                <a:ea typeface="Barlow"/>
                <a:cs typeface="Barlow"/>
              </a:rPr>
              <a:t>Constituição</a:t>
            </a: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 proíbe penas de caráter perpétuo (art. 5º, XLVII, b). O </a:t>
            </a:r>
            <a:r>
              <a:rPr b="1" i="0" sz="3150" lang="pt-BR">
                <a:solidFill>
                  <a:srgbClr val="1B3A8C"/>
                </a:solidFill>
                <a:latin typeface="Barlow"/>
                <a:ea typeface="Barlow"/>
                <a:cs typeface="Barlow"/>
              </a:rPr>
              <a:t>Código Penal</a:t>
            </a: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 limita o cumprimento a 40 anos (art. 75).</a:t>
            </a:r>
          </a:p>
        </p:txBody>
      </p:sp>
      <p:sp>
        <p:nvSpPr>
          <p:cNvPr id="13" name="Texto: ponte"/>
          <p:cNvSpPr txBox="1"/>
          <p:nvPr/>
        </p:nvSpPr>
        <p:spPr>
          <a:xfrm>
            <a:off x="915442" y="11496457"/>
            <a:ext cx="1829872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o estudo?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: box"/>
          <p:cNvSpPr/>
          <p:nvPr/>
        </p:nvSpPr>
        <p:spPr>
          <a:xfrm>
            <a:off x="924967" y="6059091"/>
            <a:ext cx="8437066" cy="2988766"/>
          </a:xfrm>
          <a:prstGeom prst="roundRect">
            <a:avLst>
              <a:gd name="adj" fmla="val 6565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3619" y="11534180"/>
            <a:ext cx="380554" cy="380554"/>
          </a:xfrm>
          <a:prstGeom prst="rect">
            <a:avLst/>
          </a:prstGeom>
        </p:spPr>
      </p:pic>
      <p:sp>
        <p:nvSpPr>
          <p:cNvPr id="4" name="Forma"/>
          <p:cNvSpPr/>
          <p:nvPr/>
        </p:nvSpPr>
        <p:spPr>
          <a:xfrm>
            <a:off x="7845028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: on"/>
          <p:cNvSpPr/>
          <p:nvPr/>
        </p:nvSpPr>
        <p:spPr>
          <a:xfrm>
            <a:off x="8303419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o: tag"/>
          <p:cNvSpPr txBox="1"/>
          <p:nvPr/>
        </p:nvSpPr>
        <p:spPr>
          <a:xfrm>
            <a:off x="915442" y="1018941"/>
            <a:ext cx="1689244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2 · Verdade</a:t>
            </a:r>
          </a:p>
        </p:txBody>
      </p:sp>
      <p:sp>
        <p:nvSpPr>
          <p:cNvPr id="11" name="Texto: h2"/>
          <p:cNvSpPr txBox="1"/>
          <p:nvPr/>
        </p:nvSpPr>
        <p:spPr>
          <a:xfrm>
            <a:off x="915442" y="3706816"/>
            <a:ext cx="6849904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“Estudar na prisão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diminui a pena.”</a:t>
            </a:r>
          </a:p>
        </p:txBody>
      </p:sp>
      <p:sp>
        <p:nvSpPr>
          <p:cNvPr id="12" name="Texto: box"/>
          <p:cNvSpPr txBox="1"/>
          <p:nvPr/>
        </p:nvSpPr>
        <p:spPr>
          <a:xfrm>
            <a:off x="1353145" y="6485296"/>
            <a:ext cx="7400633" cy="22089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A </a:t>
            </a:r>
            <a:r>
              <a:rPr b="1" i="0" sz="3150" lang="pt-BR">
                <a:solidFill>
                  <a:srgbClr val="1B3A8C"/>
                </a:solidFill>
                <a:latin typeface="Barlow"/>
                <a:ea typeface="Barlow"/>
                <a:cs typeface="Barlow"/>
              </a:rPr>
              <a:t>Lei de Execução Penal</a:t>
            </a: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 prevê 1 dia a menos de pena a cada 12 horas de estudo, divididas em pelo menos 3 dias (art. 126, § 1º, I).</a:t>
            </a:r>
          </a:p>
        </p:txBody>
      </p:sp>
      <p:sp>
        <p:nvSpPr>
          <p:cNvPr id="13" name="Texto: ponte"/>
          <p:cNvSpPr txBox="1"/>
          <p:nvPr/>
        </p:nvSpPr>
        <p:spPr>
          <a:xfrm>
            <a:off x="915442" y="11496457"/>
            <a:ext cx="3271183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a escova de dente?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: box"/>
          <p:cNvSpPr/>
          <p:nvPr/>
        </p:nvSpPr>
        <p:spPr>
          <a:xfrm>
            <a:off x="924967" y="6335167"/>
            <a:ext cx="8437066" cy="2436614"/>
          </a:xfrm>
          <a:prstGeom prst="roundRect">
            <a:avLst>
              <a:gd name="adj" fmla="val 8052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6201" y="11534180"/>
            <a:ext cx="380554" cy="380554"/>
          </a:xfrm>
          <a:prstGeom prst="rect">
            <a:avLst/>
          </a:prstGeom>
        </p:spPr>
      </p:pic>
      <p:sp>
        <p:nvSpPr>
          <p:cNvPr id="4" name="Forma"/>
          <p:cNvSpPr/>
          <p:nvPr/>
        </p:nvSpPr>
        <p:spPr>
          <a:xfrm>
            <a:off x="7845028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303419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: on"/>
          <p:cNvSpPr/>
          <p:nvPr/>
        </p:nvSpPr>
        <p:spPr>
          <a:xfrm>
            <a:off x="8532614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o: tag"/>
          <p:cNvSpPr txBox="1"/>
          <p:nvPr/>
        </p:nvSpPr>
        <p:spPr>
          <a:xfrm>
            <a:off x="915442" y="1018941"/>
            <a:ext cx="1096447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3 · Mito</a:t>
            </a:r>
          </a:p>
        </p:txBody>
      </p:sp>
      <p:sp>
        <p:nvSpPr>
          <p:cNvPr id="11" name="Texto: h2"/>
          <p:cNvSpPr txBox="1"/>
          <p:nvPr/>
        </p:nvSpPr>
        <p:spPr>
          <a:xfrm>
            <a:off x="915442" y="3982893"/>
            <a:ext cx="7982620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“A lei manda entregar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escova de dente.”</a:t>
            </a:r>
          </a:p>
        </p:txBody>
      </p:sp>
      <p:sp>
        <p:nvSpPr>
          <p:cNvPr id="12" name="Texto: box"/>
          <p:cNvSpPr txBox="1"/>
          <p:nvPr/>
        </p:nvSpPr>
        <p:spPr>
          <a:xfrm>
            <a:off x="1353145" y="6761372"/>
            <a:ext cx="7500423" cy="16566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O </a:t>
            </a:r>
            <a:r>
              <a:rPr b="1" i="0" sz="3150" lang="pt-BR">
                <a:solidFill>
                  <a:srgbClr val="1B3A8C"/>
                </a:solidFill>
                <a:latin typeface="Barlow"/>
                <a:ea typeface="Barlow"/>
                <a:cs typeface="Barlow"/>
              </a:rPr>
              <a:t>art. 12 da LEP</a:t>
            </a: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 fala em instalações higiênicas. Escova não aparece na lista; o art. 14 inclui atendimento odontológico.</a:t>
            </a:r>
          </a:p>
        </p:txBody>
      </p:sp>
      <p:sp>
        <p:nvSpPr>
          <p:cNvPr id="13" name="Texto: ponte"/>
          <p:cNvSpPr txBox="1"/>
          <p:nvPr/>
        </p:nvSpPr>
        <p:spPr>
          <a:xfrm>
            <a:off x="915442" y="11496457"/>
            <a:ext cx="2680022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a reincidência?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: box"/>
          <p:cNvSpPr/>
          <p:nvPr/>
        </p:nvSpPr>
        <p:spPr>
          <a:xfrm>
            <a:off x="924967" y="6059091"/>
            <a:ext cx="8437066" cy="2988766"/>
          </a:xfrm>
          <a:prstGeom prst="roundRect">
            <a:avLst>
              <a:gd name="adj" fmla="val 6565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196" y="11534180"/>
            <a:ext cx="380554" cy="380554"/>
          </a:xfrm>
          <a:prstGeom prst="rect">
            <a:avLst/>
          </a:prstGeom>
        </p:spPr>
      </p:pic>
      <p:sp>
        <p:nvSpPr>
          <p:cNvPr id="4" name="Forma"/>
          <p:cNvSpPr/>
          <p:nvPr/>
        </p:nvSpPr>
        <p:spPr>
          <a:xfrm>
            <a:off x="7845028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303419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8532614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: on"/>
          <p:cNvSpPr/>
          <p:nvPr/>
        </p:nvSpPr>
        <p:spPr>
          <a:xfrm>
            <a:off x="8761809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o: tag"/>
          <p:cNvSpPr txBox="1"/>
          <p:nvPr/>
        </p:nvSpPr>
        <p:spPr>
          <a:xfrm>
            <a:off x="915442" y="1018941"/>
            <a:ext cx="1114455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4 · Mito</a:t>
            </a:r>
          </a:p>
        </p:txBody>
      </p:sp>
      <p:sp>
        <p:nvSpPr>
          <p:cNvPr id="11" name="Texto: h2"/>
          <p:cNvSpPr txBox="1"/>
          <p:nvPr/>
        </p:nvSpPr>
        <p:spPr>
          <a:xfrm>
            <a:off x="915442" y="3706816"/>
            <a:ext cx="7071077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“Reincidir é só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voltar a ser preso.”</a:t>
            </a:r>
          </a:p>
        </p:txBody>
      </p:sp>
      <p:sp>
        <p:nvSpPr>
          <p:cNvPr id="12" name="Texto: box"/>
          <p:cNvSpPr txBox="1"/>
          <p:nvPr/>
        </p:nvSpPr>
        <p:spPr>
          <a:xfrm>
            <a:off x="1353145" y="6485296"/>
            <a:ext cx="7760723" cy="22089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Para o </a:t>
            </a:r>
            <a:r>
              <a:rPr b="1" i="0" sz="3150" lang="pt-BR">
                <a:solidFill>
                  <a:srgbClr val="1B3A8C"/>
                </a:solidFill>
                <a:latin typeface="Barlow"/>
                <a:ea typeface="Barlow"/>
                <a:cs typeface="Barlow"/>
              </a:rPr>
              <a:t>Código Penal</a:t>
            </a: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 (art. 63), reincidir é cometer novo crime depois de uma condenação definitiva. Voltar à prisão sem nova condenação é outra coisa.</a:t>
            </a:r>
          </a:p>
        </p:txBody>
      </p:sp>
      <p:sp>
        <p:nvSpPr>
          <p:cNvPr id="13" name="Texto: ponte"/>
          <p:cNvSpPr txBox="1"/>
          <p:nvPr/>
        </p:nvSpPr>
        <p:spPr>
          <a:xfrm>
            <a:off x="915442" y="11496457"/>
            <a:ext cx="18495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Último slide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530" y="3123158"/>
            <a:ext cx="1429792" cy="1429792"/>
          </a:xfrm>
          <a:prstGeom prst="rect">
            <a:avLst/>
          </a:prstGeom>
        </p:spPr>
      </p:pic>
      <p:sp>
        <p:nvSpPr>
          <p:cNvPr id="3" name="Forma: cta"/>
          <p:cNvSpPr/>
          <p:nvPr/>
        </p:nvSpPr>
        <p:spPr>
          <a:xfrm>
            <a:off x="2365772" y="8799463"/>
            <a:ext cx="5555307" cy="1069777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o: tag"/>
          <p:cNvSpPr txBox="1"/>
          <p:nvPr/>
        </p:nvSpPr>
        <p:spPr>
          <a:xfrm>
            <a:off x="4483462" y="4903206"/>
            <a:ext cx="1320076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Na terça</a:t>
            </a:r>
          </a:p>
        </p:txBody>
      </p:sp>
      <p:sp>
        <p:nvSpPr>
          <p:cNvPr id="5" name="Texto: h2"/>
          <p:cNvSpPr txBox="1"/>
          <p:nvPr/>
        </p:nvSpPr>
        <p:spPr>
          <a:xfrm>
            <a:off x="1247552" y="5523264"/>
            <a:ext cx="7791896" cy="280057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O que a Defensoria</a:t>
            </a:r>
            <a:br/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encontrou nas</a:t>
            </a:r>
            <a:br/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unidades de Maringá.</a:t>
            </a:r>
          </a:p>
        </p:txBody>
      </p:sp>
      <p:sp>
        <p:nvSpPr>
          <p:cNvPr id="6" name="Texto: cta"/>
          <p:cNvSpPr txBox="1"/>
          <p:nvPr/>
        </p:nvSpPr>
        <p:spPr>
          <a:xfrm>
            <a:off x="2531872" y="9038830"/>
            <a:ext cx="5223108" cy="4937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888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Siga @efeitorebote.oficial</a:t>
            </a:r>
          </a:p>
        </p:txBody>
      </p:sp>
      <p:pic>
        <p:nvPicPr>
          <p:cNvPr id="7" name="Seta de rebote" descr="Seta de rebote, marca do proje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feito Rebo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arlow Condense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Efeito Rebote — Dom 18/10: 4 frases sobre prisão que muita gente repete.</dc:title>
  <dc:subject>Kit da Comunicação</dc:subject>
  <dc:creator>Efeito Rebote · Comunicação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pt-BR</dc:language>
</cp:coreProperties>
</file>