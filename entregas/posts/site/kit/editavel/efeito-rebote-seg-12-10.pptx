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Série Entenda o projeto · parte 1</a:t>
            </a:r>
          </a:p>
          <a:p>
            <a:r>
              <a:t>Quase 1 em cada 4 volta a ser condenado.</a:t>
            </a:r>
          </a:p>
          <a:p/>
          <a:p>
            <a:r>
              <a:t>LEGENDA PRONTA</a:t>
            </a:r>
          </a:p>
          <a:p>
            <a:r>
              <a:t>24,4%. Esse foi o percentual de pessoas que voltaram a ser condenadas em até cinco anos, num estudo do Ipea para o CNJ em cinco estados, entre eles o Paraná.</a:t>
            </a:r>
          </a:p>
          <a:p/>
          <a:p>
            <a:r>
              <a:t>Pelo Código Penal, reincidir é cometer um novo crime depois de uma condenação definitiva. Outras pesquisas contam quem volta à prisão, mesmo sem nova condenação, e chegam a 36% a 42%. São medidas diferentes, e por isso os números mudam de um estudo para outro.</a:t>
            </a:r>
          </a:p>
          <a:p/>
          <a:p>
            <a:r>
              <a:t>O nome do projeto vem desse movimento. Quando falta o básico dentro do sistema prisional, o custo volta para fora, na saúde, na segurança e no orçamento das famílias.</a:t>
            </a:r>
          </a:p>
          <a:p/>
          <a:p>
            <a:r>
              <a:t>Na quarta, parte 2. Siga o perfil para acompanhar a série.</a:t>
            </a:r>
          </a:p>
          <a:p/>
          <a:p>
            <a:r>
              <a:t>#EfeitoRebote #SistemaPrisional #ExecuçãoPenal #DireitosHumanos #ExtensãoUniversitária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442" y="1049238"/>
            <a:ext cx="1429792" cy="1429792"/>
          </a:xfrm>
          <a:prstGeom prst="rect">
            <a:avLst/>
          </a:prstGeom>
        </p:spPr>
      </p:pic>
      <p:pic>
        <p:nvPicPr>
          <p:cNvPr id="3" name="Seta" descr="Se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468" y="11534180"/>
            <a:ext cx="380554" cy="380554"/>
          </a:xfrm>
          <a:prstGeom prst="rect">
            <a:avLst/>
          </a:prstGeom>
        </p:spPr>
      </p:pic>
      <p:sp>
        <p:nvSpPr>
          <p:cNvPr id="4" name="Forma: on"/>
          <p:cNvSpPr/>
          <p:nvPr/>
        </p:nvSpPr>
        <p:spPr>
          <a:xfrm>
            <a:off x="7845028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321129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55032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o: tag"/>
          <p:cNvSpPr txBox="1"/>
          <p:nvPr/>
        </p:nvSpPr>
        <p:spPr>
          <a:xfrm>
            <a:off x="915442" y="3570032"/>
            <a:ext cx="4717078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397" lang="pt-BR">
                <a:solidFill>
                  <a:srgbClr val="E9C46A"/>
                </a:solidFill>
                <a:latin typeface="Barlow SemiBold"/>
                <a:ea typeface="Barlow SemiBold"/>
                <a:cs typeface="Barlow SemiBold"/>
              </a:rPr>
              <a:t>Série Entenda o projeto · parte 1</a:t>
            </a:r>
          </a:p>
        </p:txBody>
      </p:sp>
      <p:sp>
        <p:nvSpPr>
          <p:cNvPr id="11" name="Texto: h1"/>
          <p:cNvSpPr txBox="1"/>
          <p:nvPr/>
        </p:nvSpPr>
        <p:spPr>
          <a:xfrm>
            <a:off x="915442" y="4325479"/>
            <a:ext cx="7483629" cy="36897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8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Quase 1 em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cada 4 volta a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ser condenado.</a:t>
            </a:r>
          </a:p>
        </p:txBody>
      </p:sp>
      <p:sp>
        <p:nvSpPr>
          <p:cNvPr id="12" name="Texto: lead"/>
          <p:cNvSpPr txBox="1"/>
          <p:nvPr/>
        </p:nvSpPr>
        <p:spPr>
          <a:xfrm>
            <a:off x="915442" y="8198921"/>
            <a:ext cx="5428214" cy="15606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E8EBF4"/>
                </a:solidFill>
                <a:latin typeface="Barlow"/>
                <a:ea typeface="Barlow"/>
                <a:cs typeface="Barlow"/>
              </a:rPr>
              <a:t>O que é reincidência e por que ela também pesa do lado de fora.</a:t>
            </a:r>
          </a:p>
        </p:txBody>
      </p:sp>
      <p:sp>
        <p:nvSpPr>
          <p:cNvPr id="13" name="Texto: fonte"/>
          <p:cNvSpPr txBox="1"/>
          <p:nvPr/>
        </p:nvSpPr>
        <p:spPr>
          <a:xfrm>
            <a:off x="915442" y="10093648"/>
            <a:ext cx="4245426" cy="3332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6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944" lang="pt-BR">
                <a:solidFill>
                  <a:srgbClr val="BBC4DD"/>
                </a:solidFill>
                <a:latin typeface="Barlow"/>
                <a:ea typeface="Barlow"/>
                <a:cs typeface="Barlow"/>
              </a:rPr>
              <a:t>Ipea para o CNJ, 2015, em 5 estados</a:t>
            </a:r>
          </a:p>
        </p:txBody>
      </p:sp>
      <p:sp>
        <p:nvSpPr>
          <p:cNvPr id="14" name="Texto: ponte"/>
          <p:cNvSpPr txBox="1"/>
          <p:nvPr/>
        </p:nvSpPr>
        <p:spPr>
          <a:xfrm>
            <a:off x="915442" y="11515488"/>
            <a:ext cx="12107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E9C46A"/>
                </a:solidFill>
                <a:latin typeface="Barlow Condensed"/>
                <a:ea typeface="Barlow Condensed"/>
                <a:cs typeface="Barlow Condensed"/>
              </a:rPr>
              <a:t>Arraste</a:t>
            </a:r>
          </a:p>
        </p:txBody>
      </p:sp>
      <p:pic>
        <p:nvPicPr>
          <p:cNvPr id="15" name="Seta de rebote" descr="Seta de rebote, marca do proje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: box"/>
          <p:cNvSpPr/>
          <p:nvPr/>
        </p:nvSpPr>
        <p:spPr>
          <a:xfrm>
            <a:off x="924967" y="7268617"/>
            <a:ext cx="8437066" cy="2436614"/>
          </a:xfrm>
          <a:prstGeom prst="roundRect">
            <a:avLst>
              <a:gd name="adj" fmla="val 8052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9317" y="11534180"/>
            <a:ext cx="380554" cy="380554"/>
          </a:xfrm>
          <a:prstGeom prst="rect">
            <a:avLst/>
          </a:prstGeom>
        </p:spPr>
      </p:pic>
      <p:sp>
        <p:nvSpPr>
          <p:cNvPr id="4" name="Forma"/>
          <p:cNvSpPr/>
          <p:nvPr/>
        </p:nvSpPr>
        <p:spPr>
          <a:xfrm>
            <a:off x="7845028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: on"/>
          <p:cNvSpPr/>
          <p:nvPr/>
        </p:nvSpPr>
        <p:spPr>
          <a:xfrm>
            <a:off x="8074223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55032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o: tag"/>
          <p:cNvSpPr txBox="1"/>
          <p:nvPr/>
        </p:nvSpPr>
        <p:spPr>
          <a:xfrm>
            <a:off x="915442" y="1079840"/>
            <a:ext cx="1644714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397" lang="pt-BR">
                <a:solidFill>
                  <a:srgbClr val="B5121B"/>
                </a:solidFill>
                <a:latin typeface="Barlow SemiBold"/>
                <a:ea typeface="Barlow SemiBold"/>
                <a:cs typeface="Barlow SemiBold"/>
              </a:rPr>
              <a:t>O conceito</a:t>
            </a:r>
          </a:p>
        </p:txBody>
      </p:sp>
      <p:sp>
        <p:nvSpPr>
          <p:cNvPr id="11" name="Texto: h2"/>
          <p:cNvSpPr txBox="1"/>
          <p:nvPr/>
        </p:nvSpPr>
        <p:spPr>
          <a:xfrm>
            <a:off x="915442" y="3259010"/>
            <a:ext cx="8402702" cy="373409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Reincidir é cometer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um novo crime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depois de uma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condenação definitiva.</a:t>
            </a:r>
          </a:p>
        </p:txBody>
      </p:sp>
      <p:sp>
        <p:nvSpPr>
          <p:cNvPr id="12" name="Texto: box"/>
          <p:cNvSpPr txBox="1"/>
          <p:nvPr/>
        </p:nvSpPr>
        <p:spPr>
          <a:xfrm>
            <a:off x="1353145" y="7622792"/>
            <a:ext cx="7994309" cy="16566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É o que diz o </a:t>
            </a:r>
            <a:r>
              <a:rPr b="1" i="0" sz="3150" lang="pt-BR">
                <a:solidFill>
                  <a:srgbClr val="1B3A8C"/>
                </a:solidFill>
                <a:latin typeface="Barlow"/>
                <a:ea typeface="Barlow"/>
                <a:cs typeface="Barlow"/>
              </a:rPr>
              <a:t>Código Penal, art. 63</a:t>
            </a: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. Nas pesquisas, a palavra às vezes ganha sentido mais amplo, e por isso os números mudam.</a:t>
            </a:r>
          </a:p>
        </p:txBody>
      </p:sp>
      <p:sp>
        <p:nvSpPr>
          <p:cNvPr id="13" name="Texto: ponte"/>
          <p:cNvSpPr txBox="1"/>
          <p:nvPr/>
        </p:nvSpPr>
        <p:spPr>
          <a:xfrm>
            <a:off x="915442" y="11515488"/>
            <a:ext cx="4696450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quantas pessoas reincidem?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8904" y="11534031"/>
            <a:ext cx="380554" cy="380554"/>
          </a:xfrm>
          <a:prstGeom prst="rect">
            <a:avLst/>
          </a:prstGeom>
        </p:spPr>
      </p:pic>
      <p:sp>
        <p:nvSpPr>
          <p:cNvPr id="3" name="Forma"/>
          <p:cNvSpPr/>
          <p:nvPr/>
        </p:nvSpPr>
        <p:spPr>
          <a:xfrm>
            <a:off x="7845028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: on"/>
          <p:cNvSpPr/>
          <p:nvPr/>
        </p:nvSpPr>
        <p:spPr>
          <a:xfrm>
            <a:off x="8303419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779520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o: tag"/>
          <p:cNvSpPr txBox="1"/>
          <p:nvPr/>
        </p:nvSpPr>
        <p:spPr>
          <a:xfrm>
            <a:off x="915442" y="1079840"/>
            <a:ext cx="1481331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397" lang="pt-BR">
                <a:solidFill>
                  <a:srgbClr val="B5121B"/>
                </a:solidFill>
                <a:latin typeface="Barlow SemiBold"/>
                <a:ea typeface="Barlow SemiBold"/>
                <a:cs typeface="Barlow SemiBold"/>
              </a:rPr>
              <a:t>O número</a:t>
            </a:r>
          </a:p>
        </p:txBody>
      </p:sp>
      <p:sp>
        <p:nvSpPr>
          <p:cNvPr id="10" name="Texto: num"/>
          <p:cNvSpPr txBox="1"/>
          <p:nvPr/>
        </p:nvSpPr>
        <p:spPr>
          <a:xfrm>
            <a:off x="915442" y="3167235"/>
            <a:ext cx="7100709" cy="243081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140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2518" lang="pt-BR" spc="-676">
                <a:solidFill>
                  <a:srgbClr val="B5121B"/>
                </a:solidFill>
                <a:latin typeface="Barlow Condensed"/>
                <a:ea typeface="Barlow Condensed"/>
                <a:cs typeface="Barlow Condensed"/>
              </a:rPr>
              <a:t>24,4%</a:t>
            </a:r>
          </a:p>
        </p:txBody>
      </p:sp>
      <p:sp>
        <p:nvSpPr>
          <p:cNvPr id="11" name="Texto: h2"/>
          <p:cNvSpPr txBox="1"/>
          <p:nvPr/>
        </p:nvSpPr>
        <p:spPr>
          <a:xfrm>
            <a:off x="915442" y="5556185"/>
            <a:ext cx="7632115" cy="141944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5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5702" lang="pt-BR" spc="-86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voltaram a ser condenados</a:t>
            </a:r>
            <a:br/>
            <a:r>
              <a:rPr b="1" i="0" sz="5702" lang="pt-BR" spc="-86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em até 5 anos.</a:t>
            </a:r>
          </a:p>
        </p:txBody>
      </p:sp>
      <p:sp>
        <p:nvSpPr>
          <p:cNvPr id="12" name="Texto: p"/>
          <p:cNvSpPr txBox="1"/>
          <p:nvPr/>
        </p:nvSpPr>
        <p:spPr>
          <a:xfrm>
            <a:off x="915442" y="7238071"/>
            <a:ext cx="8475172" cy="22089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Estudo do Ipea para o CNJ em 5 estados, entre eles o Paraná. Pesquisas que contam quem volta à prisão, mesmo sem nova condenação, chegam a 36% a 42%.</a:t>
            </a:r>
          </a:p>
        </p:txBody>
      </p:sp>
      <p:sp>
        <p:nvSpPr>
          <p:cNvPr id="13" name="Texto: fonte"/>
          <p:cNvSpPr txBox="1"/>
          <p:nvPr/>
        </p:nvSpPr>
        <p:spPr>
          <a:xfrm>
            <a:off x="915442" y="9844659"/>
            <a:ext cx="7231514" cy="3332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6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944" lang="pt-BR">
                <a:solidFill>
                  <a:srgbClr val="4A5568"/>
                </a:solidFill>
                <a:latin typeface="Barlow"/>
                <a:ea typeface="Barlow"/>
                <a:cs typeface="Barlow"/>
              </a:rPr>
              <a:t>Ipea, 2015 (reincidência legal) · Depen/UFPE, 2022 (reentrada)</a:t>
            </a:r>
          </a:p>
        </p:txBody>
      </p:sp>
      <p:sp>
        <p:nvSpPr>
          <p:cNvPr id="14" name="Texto: ponte"/>
          <p:cNvSpPr txBox="1"/>
          <p:nvPr/>
        </p:nvSpPr>
        <p:spPr>
          <a:xfrm>
            <a:off x="915442" y="11515339"/>
            <a:ext cx="5256996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de onde vem o nome do projeto?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924967" y="5581204"/>
            <a:ext cx="8437066" cy="1240036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1243012" y="5858173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924967" y="7045970"/>
            <a:ext cx="8437066" cy="1594247"/>
          </a:xfrm>
          <a:prstGeom prst="roundRect">
            <a:avLst>
              <a:gd name="adj" fmla="val 12307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1243012" y="7500045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: volta"/>
          <p:cNvSpPr/>
          <p:nvPr/>
        </p:nvSpPr>
        <p:spPr>
          <a:xfrm>
            <a:off x="924967" y="8864947"/>
            <a:ext cx="8437066" cy="1594247"/>
          </a:xfrm>
          <a:prstGeom prst="roundRect">
            <a:avLst>
              <a:gd name="adj" fmla="val 12307"/>
            </a:avLst>
          </a:prstGeom>
          <a:solidFill>
            <a:srgbClr val="1B3A8C"/>
          </a:solidFill>
          <a:ln w="19050">
            <a:solidFill>
              <a:srgbClr val="1B3A8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1243012" y="9319022"/>
            <a:ext cx="686098" cy="686098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4126" y="11534180"/>
            <a:ext cx="380554" cy="380554"/>
          </a:xfrm>
          <a:prstGeom prst="rect">
            <a:avLst/>
          </a:prstGeom>
        </p:spPr>
      </p:pic>
      <p:sp>
        <p:nvSpPr>
          <p:cNvPr id="9" name="Forma"/>
          <p:cNvSpPr/>
          <p:nvPr/>
        </p:nvSpPr>
        <p:spPr>
          <a:xfrm>
            <a:off x="7845028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orma: on"/>
          <p:cNvSpPr/>
          <p:nvPr/>
        </p:nvSpPr>
        <p:spPr>
          <a:xfrm>
            <a:off x="8532614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o: tag"/>
          <p:cNvSpPr txBox="1"/>
          <p:nvPr/>
        </p:nvSpPr>
        <p:spPr>
          <a:xfrm>
            <a:off x="915442" y="1079840"/>
            <a:ext cx="1175355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397" lang="pt-BR">
                <a:solidFill>
                  <a:srgbClr val="B5121B"/>
                </a:solidFill>
                <a:latin typeface="Barlow SemiBold"/>
                <a:ea typeface="Barlow SemiBold"/>
                <a:cs typeface="Barlow SemiBold"/>
              </a:rPr>
              <a:t>O nome</a:t>
            </a:r>
          </a:p>
        </p:txBody>
      </p:sp>
      <p:sp>
        <p:nvSpPr>
          <p:cNvPr id="16" name="Texto: h2"/>
          <p:cNvSpPr txBox="1"/>
          <p:nvPr/>
        </p:nvSpPr>
        <p:spPr>
          <a:xfrm>
            <a:off x="915442" y="2505046"/>
            <a:ext cx="7936453" cy="28005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Quando falta o básico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lá dentro, o custo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volta para fora.</a:t>
            </a:r>
          </a:p>
        </p:txBody>
      </p:sp>
      <p:sp>
        <p:nvSpPr>
          <p:cNvPr id="17" name="Texto: span"/>
          <p:cNvSpPr txBox="1"/>
          <p:nvPr/>
        </p:nvSpPr>
        <p:spPr>
          <a:xfrm>
            <a:off x="1488378" y="5752826"/>
            <a:ext cx="195218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1</a:t>
            </a:r>
          </a:p>
        </p:txBody>
      </p:sp>
      <p:sp>
        <p:nvSpPr>
          <p:cNvPr id="18" name="Texto: li"/>
          <p:cNvSpPr txBox="1"/>
          <p:nvPr/>
        </p:nvSpPr>
        <p:spPr>
          <a:xfrm>
            <a:off x="2175867" y="5927655"/>
            <a:ext cx="6588621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Falta o básico na unidade prisional</a:t>
            </a:r>
          </a:p>
        </p:txBody>
      </p:sp>
      <p:sp>
        <p:nvSpPr>
          <p:cNvPr id="19" name="Texto: span"/>
          <p:cNvSpPr txBox="1"/>
          <p:nvPr/>
        </p:nvSpPr>
        <p:spPr>
          <a:xfrm>
            <a:off x="1456283" y="7394698"/>
            <a:ext cx="259556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2</a:t>
            </a:r>
          </a:p>
        </p:txBody>
      </p:sp>
      <p:sp>
        <p:nvSpPr>
          <p:cNvPr id="20" name="Texto: li"/>
          <p:cNvSpPr txBox="1"/>
          <p:nvPr/>
        </p:nvSpPr>
        <p:spPr>
          <a:xfrm>
            <a:off x="2175867" y="7309524"/>
            <a:ext cx="6717884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Saúde e vínculos com a família se desgastam</a:t>
            </a:r>
          </a:p>
        </p:txBody>
      </p:sp>
      <p:sp>
        <p:nvSpPr>
          <p:cNvPr id="21" name="Texto: span"/>
          <p:cNvSpPr txBox="1"/>
          <p:nvPr/>
        </p:nvSpPr>
        <p:spPr>
          <a:xfrm>
            <a:off x="1456618" y="9213675"/>
            <a:ext cx="258738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3</a:t>
            </a:r>
          </a:p>
        </p:txBody>
      </p:sp>
      <p:sp>
        <p:nvSpPr>
          <p:cNvPr id="22" name="Texto: volta"/>
          <p:cNvSpPr txBox="1"/>
          <p:nvPr/>
        </p:nvSpPr>
        <p:spPr>
          <a:xfrm>
            <a:off x="2175867" y="9128501"/>
            <a:ext cx="7529370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FFFFFF"/>
                </a:solidFill>
                <a:latin typeface="Barlow"/>
                <a:ea typeface="Barlow"/>
                <a:cs typeface="Barlow"/>
              </a:rPr>
              <a:t>A pessoa sai sem apoio, e o ciclo pode recomeçar</a:t>
            </a:r>
          </a:p>
        </p:txBody>
      </p:sp>
      <p:sp>
        <p:nvSpPr>
          <p:cNvPr id="23" name="Texto: ponte"/>
          <p:cNvSpPr txBox="1"/>
          <p:nvPr/>
        </p:nvSpPr>
        <p:spPr>
          <a:xfrm>
            <a:off x="915442" y="11515488"/>
            <a:ext cx="3018740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o que vem por aí?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Linha"/>
          <p:cNvCxnSpPr/>
          <p:nvPr/>
        </p:nvCxnSpPr>
        <p:spPr>
          <a:xfrm>
            <a:off x="915442" y="5169843"/>
            <a:ext cx="8456116" cy="0"/>
          </a:xfrm>
          <a:prstGeom prst="line">
            <a:avLst/>
          </a:prstGeom>
          <a:ln w="19050">
            <a:solidFill>
              <a:srgbClr val="DCE1EC"/>
            </a:solidFill>
          </a:ln>
        </p:spPr>
      </p:cxnSp>
      <p:cxnSp>
        <p:nvCxnSpPr>
          <p:cNvPr id="3" name="Linha"/>
          <p:cNvCxnSpPr/>
          <p:nvPr/>
        </p:nvCxnSpPr>
        <p:spPr>
          <a:xfrm>
            <a:off x="915442" y="6765280"/>
            <a:ext cx="8456116" cy="0"/>
          </a:xfrm>
          <a:prstGeom prst="line">
            <a:avLst/>
          </a:prstGeom>
          <a:ln w="19050">
            <a:solidFill>
              <a:srgbClr val="DCE1EC"/>
            </a:solidFill>
          </a:ln>
        </p:spPr>
      </p:cxnSp>
      <p:cxnSp>
        <p:nvCxnSpPr>
          <p:cNvPr id="4" name="Linha"/>
          <p:cNvCxnSpPr/>
          <p:nvPr/>
        </p:nvCxnSpPr>
        <p:spPr>
          <a:xfrm>
            <a:off x="915442" y="8360718"/>
            <a:ext cx="8456116" cy="0"/>
          </a:xfrm>
          <a:prstGeom prst="line">
            <a:avLst/>
          </a:prstGeom>
          <a:ln w="19050">
            <a:solidFill>
              <a:srgbClr val="DCE1EC"/>
            </a:solidFill>
          </a:ln>
        </p:spPr>
      </p:cxnSp>
      <p:pic>
        <p:nvPicPr>
          <p:cNvPr id="5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196" y="11534180"/>
            <a:ext cx="380554" cy="380554"/>
          </a:xfrm>
          <a:prstGeom prst="rect">
            <a:avLst/>
          </a:prstGeom>
        </p:spPr>
      </p:pic>
      <p:sp>
        <p:nvSpPr>
          <p:cNvPr id="6" name="Forma"/>
          <p:cNvSpPr/>
          <p:nvPr/>
        </p:nvSpPr>
        <p:spPr>
          <a:xfrm>
            <a:off x="7845028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8532614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orma: on"/>
          <p:cNvSpPr/>
          <p:nvPr/>
        </p:nvSpPr>
        <p:spPr>
          <a:xfrm>
            <a:off x="8761809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o: tag"/>
          <p:cNvSpPr txBox="1"/>
          <p:nvPr/>
        </p:nvSpPr>
        <p:spPr>
          <a:xfrm>
            <a:off x="915442" y="1079840"/>
            <a:ext cx="3456012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397" lang="pt-BR">
                <a:solidFill>
                  <a:srgbClr val="B5121B"/>
                </a:solidFill>
                <a:latin typeface="Barlow SemiBold"/>
                <a:ea typeface="Barlow SemiBold"/>
                <a:cs typeface="Barlow SemiBold"/>
              </a:rPr>
              <a:t>Nas próximas semanas</a:t>
            </a:r>
          </a:p>
        </p:txBody>
      </p:sp>
      <p:sp>
        <p:nvSpPr>
          <p:cNvPr id="13" name="Texto: h2"/>
          <p:cNvSpPr txBox="1"/>
          <p:nvPr/>
        </p:nvSpPr>
        <p:spPr>
          <a:xfrm>
            <a:off x="915442" y="3027135"/>
            <a:ext cx="8559864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Um dado com fonte,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três vezes por semana.</a:t>
            </a:r>
          </a:p>
        </p:txBody>
      </p:sp>
      <p:sp>
        <p:nvSpPr>
          <p:cNvPr id="14" name="Texto: b"/>
          <p:cNvSpPr txBox="1"/>
          <p:nvPr/>
        </p:nvSpPr>
        <p:spPr>
          <a:xfrm>
            <a:off x="915442" y="5515897"/>
            <a:ext cx="1750635" cy="4382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450" lang="pt-BR">
                <a:solidFill>
                  <a:srgbClr val="B5121B"/>
                </a:solidFill>
                <a:latin typeface="Barlow Condensed"/>
                <a:ea typeface="Barlow Condensed"/>
                <a:cs typeface="Barlow Condensed"/>
              </a:rPr>
              <a:t>Qua 14/10</a:t>
            </a:r>
          </a:p>
        </p:txBody>
      </p:sp>
      <p:sp>
        <p:nvSpPr>
          <p:cNvPr id="15" name="Texto: span"/>
          <p:cNvSpPr txBox="1"/>
          <p:nvPr/>
        </p:nvSpPr>
        <p:spPr>
          <a:xfrm>
            <a:off x="3008709" y="5464418"/>
            <a:ext cx="6733734" cy="10004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39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Por que cuidar de quem está preso também protege você</a:t>
            </a:r>
          </a:p>
        </p:txBody>
      </p:sp>
      <p:sp>
        <p:nvSpPr>
          <p:cNvPr id="16" name="Texto: b"/>
          <p:cNvSpPr txBox="1"/>
          <p:nvPr/>
        </p:nvSpPr>
        <p:spPr>
          <a:xfrm>
            <a:off x="915442" y="7111335"/>
            <a:ext cx="1712491" cy="4382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450" lang="pt-BR">
                <a:solidFill>
                  <a:srgbClr val="B5121B"/>
                </a:solidFill>
                <a:latin typeface="Barlow Condensed"/>
                <a:ea typeface="Barlow Condensed"/>
                <a:cs typeface="Barlow Condensed"/>
              </a:rPr>
              <a:t>Sex 16/10</a:t>
            </a:r>
          </a:p>
        </p:txBody>
      </p:sp>
      <p:sp>
        <p:nvSpPr>
          <p:cNvPr id="17" name="Texto: span"/>
          <p:cNvSpPr txBox="1"/>
          <p:nvPr/>
        </p:nvSpPr>
        <p:spPr>
          <a:xfrm>
            <a:off x="3008709" y="7059856"/>
            <a:ext cx="6342168" cy="10004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39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Escova de dente é direito de quem está preso?</a:t>
            </a:r>
          </a:p>
        </p:txBody>
      </p:sp>
      <p:sp>
        <p:nvSpPr>
          <p:cNvPr id="18" name="Texto: b"/>
          <p:cNvSpPr txBox="1"/>
          <p:nvPr/>
        </p:nvSpPr>
        <p:spPr>
          <a:xfrm>
            <a:off x="915442" y="8706772"/>
            <a:ext cx="1711181" cy="43822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450" lang="pt-BR">
                <a:solidFill>
                  <a:srgbClr val="B5121B"/>
                </a:solidFill>
                <a:latin typeface="Barlow Condensed"/>
                <a:ea typeface="Barlow Condensed"/>
                <a:cs typeface="Barlow Condensed"/>
              </a:rPr>
              <a:t>Seg 19/10</a:t>
            </a:r>
          </a:p>
        </p:txBody>
      </p:sp>
      <p:sp>
        <p:nvSpPr>
          <p:cNvPr id="19" name="Texto: span"/>
          <p:cNvSpPr txBox="1"/>
          <p:nvPr/>
        </p:nvSpPr>
        <p:spPr>
          <a:xfrm>
            <a:off x="3008709" y="8655293"/>
            <a:ext cx="6419335" cy="10004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39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Quem paga a conta quando falta o básico</a:t>
            </a:r>
          </a:p>
        </p:txBody>
      </p:sp>
      <p:sp>
        <p:nvSpPr>
          <p:cNvPr id="20" name="Texto: ponte"/>
          <p:cNvSpPr txBox="1"/>
          <p:nvPr/>
        </p:nvSpPr>
        <p:spPr>
          <a:xfrm>
            <a:off x="915442" y="11515488"/>
            <a:ext cx="18495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Último slide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530" y="3123158"/>
            <a:ext cx="1429792" cy="1429792"/>
          </a:xfrm>
          <a:prstGeom prst="rect">
            <a:avLst/>
          </a:prstGeom>
        </p:spPr>
      </p:pic>
      <p:sp>
        <p:nvSpPr>
          <p:cNvPr id="3" name="Forma: cta"/>
          <p:cNvSpPr/>
          <p:nvPr/>
        </p:nvSpPr>
        <p:spPr>
          <a:xfrm>
            <a:off x="2365772" y="8799463"/>
            <a:ext cx="5555307" cy="1069777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o: tag"/>
          <p:cNvSpPr txBox="1"/>
          <p:nvPr/>
        </p:nvSpPr>
        <p:spPr>
          <a:xfrm>
            <a:off x="3784751" y="4964105"/>
            <a:ext cx="2717349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2397" lang="pt-BR">
                <a:solidFill>
                  <a:srgbClr val="E9C46A"/>
                </a:solidFill>
                <a:latin typeface="Barlow SemiBold"/>
                <a:ea typeface="Barlow SemiBold"/>
                <a:cs typeface="Barlow SemiBold"/>
              </a:rPr>
              <a:t>Na quarta, parte 2</a:t>
            </a:r>
          </a:p>
        </p:txBody>
      </p:sp>
      <p:sp>
        <p:nvSpPr>
          <p:cNvPr id="5" name="Texto: h2"/>
          <p:cNvSpPr txBox="1"/>
          <p:nvPr/>
        </p:nvSpPr>
        <p:spPr>
          <a:xfrm>
            <a:off x="1002811" y="5732831"/>
            <a:ext cx="8281228" cy="28005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Por que cuidar de</a:t>
            </a:r>
            <a:br/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quem está preso</a:t>
            </a:r>
            <a:br/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também protege você.</a:t>
            </a:r>
          </a:p>
        </p:txBody>
      </p:sp>
      <p:sp>
        <p:nvSpPr>
          <p:cNvPr id="6" name="Texto: cta"/>
          <p:cNvSpPr txBox="1"/>
          <p:nvPr/>
        </p:nvSpPr>
        <p:spPr>
          <a:xfrm>
            <a:off x="2531872" y="9137585"/>
            <a:ext cx="5223108" cy="4937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888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Siga @efeitorebote.oficial</a:t>
            </a:r>
          </a:p>
        </p:txBody>
      </p:sp>
      <p:pic>
        <p:nvPicPr>
          <p:cNvPr id="7" name="Seta de rebote" descr="Seta de rebote, marca do proje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feito Reb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arlow Condense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Efeito Rebote — Seg 12/10: Quase 1 em cada 4 volta a ser condenado.</dc:title>
  <dc:subject>Kit da Comunicação</dc:subject>
  <dc:creator>Efeito Rebote · Comunicação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pt-BR</dc:language>
</cp:coreProperties>
</file>