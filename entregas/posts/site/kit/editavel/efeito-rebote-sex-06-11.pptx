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Bastidores e agradecimento</a:t>
            </a:r>
          </a:p>
          <a:p/>
          <a:p>
            <a:r>
              <a:t>LEGENDA PRONTA</a:t>
            </a:r>
          </a:p>
          <a:p>
            <a:r>
              <a:t>Obrigado a cada pessoa que fez parte do Efeito Rebote.</a:t>
            </a:r>
          </a:p>
          <a:p/>
          <a:p>
            <a:r>
              <a:t>[Preencher: 2 frases sobre o caminho da turma, das primeiras reuniões à visita.]</a:t>
            </a:r>
          </a:p>
          <a:p/>
          <a:p>
            <a:r>
              <a:t>A prestação de contas completa sai aqui na próxima semana.</a:t>
            </a:r>
          </a:p>
          <a:p/>
          <a:p>
            <a:r>
              <a:t>#EfeitoRebote #SistemaPrisional #ExecuçãoPenal #DireitosHumanos #ExtensãoUniversitária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de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de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 (foto de referência)" descr="Fundo listrado: troque pela foto rea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Forma: cap"/>
          <p:cNvSpPr/>
          <p:nvPr/>
        </p:nvSpPr>
        <p:spPr>
          <a:xfrm>
            <a:off x="915442" y="9255175"/>
            <a:ext cx="8456116" cy="2688134"/>
          </a:xfrm>
          <a:prstGeom prst="roundRect">
            <a:avLst>
              <a:gd name="adj" fmla="val 7653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o: ph"/>
          <p:cNvSpPr txBox="1"/>
          <p:nvPr/>
        </p:nvSpPr>
        <p:spPr>
          <a:xfrm>
            <a:off x="915442" y="866305"/>
            <a:ext cx="8076168" cy="8949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524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429" lang="pt-BR" spc="194">
                <a:solidFill>
                  <a:srgbClr val="4A5568"/>
                </a:solidFill>
                <a:latin typeface="Barlow"/>
                <a:ea typeface="Barlow"/>
                <a:cs typeface="Barlow"/>
              </a:rPr>
              <a:t>FOTO DOS BASTIDORES (TRIAGEM, REUNIÃO, EMBALAGEM)</a:t>
            </a:r>
          </a:p>
        </p:txBody>
      </p:sp>
      <p:sp>
        <p:nvSpPr>
          <p:cNvPr id="5" name="Texto: h2"/>
          <p:cNvSpPr txBox="1"/>
          <p:nvPr/>
        </p:nvSpPr>
        <p:spPr>
          <a:xfrm>
            <a:off x="1326803" y="9590793"/>
            <a:ext cx="7322374" cy="7460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874"/>
              </a:lnSpc>
              <a:spcBef>
                <a:spcPts val="0"/>
              </a:spcBef>
              <a:spcAft>
                <a:spcPts val="0"/>
              </a:spcAft>
            </a:pPr>
            <a:r>
              <a:rPr b="1" i="0" sz="5994" lang="pt-BR" spc="-9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Por trás do Efeito Rebote</a:t>
            </a:r>
          </a:p>
        </p:txBody>
      </p:sp>
      <p:sp>
        <p:nvSpPr>
          <p:cNvPr id="6" name="Texto: p"/>
          <p:cNvSpPr txBox="1"/>
          <p:nvPr/>
        </p:nvSpPr>
        <p:spPr>
          <a:xfrm>
            <a:off x="1326803" y="10604443"/>
            <a:ext cx="7696946" cy="9653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754" lang="pt-BR">
                <a:solidFill>
                  <a:srgbClr val="E8EBF4"/>
                </a:solidFill>
                <a:latin typeface="Barlow"/>
                <a:ea typeface="Barlow"/>
                <a:cs typeface="Barlow"/>
              </a:rPr>
              <a:t>Semanas de estudo, organização e trabalho em equipe.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rma"/>
          <p:cNvSpPr/>
          <p:nvPr/>
        </p:nvSpPr>
        <p:spPr>
          <a:xfrm>
            <a:off x="924967" y="5001964"/>
            <a:ext cx="8437066" cy="1240036"/>
          </a:xfrm>
          <a:prstGeom prst="roundRect">
            <a:avLst>
              <a:gd name="adj" fmla="val 15823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rma"/>
          <p:cNvSpPr/>
          <p:nvPr/>
        </p:nvSpPr>
        <p:spPr>
          <a:xfrm>
            <a:off x="1243012" y="5278934"/>
            <a:ext cx="686098" cy="686098"/>
          </a:xfrm>
          <a:prstGeom prst="ellipse">
            <a:avLst/>
          </a:prstGeom>
          <a:solidFill>
            <a:srgbClr val="B512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orma"/>
          <p:cNvSpPr/>
          <p:nvPr/>
        </p:nvSpPr>
        <p:spPr>
          <a:xfrm>
            <a:off x="924967" y="6466731"/>
            <a:ext cx="8437066" cy="1240036"/>
          </a:xfrm>
          <a:prstGeom prst="roundRect">
            <a:avLst>
              <a:gd name="adj" fmla="val 15823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1243012" y="6743700"/>
            <a:ext cx="686098" cy="686098"/>
          </a:xfrm>
          <a:prstGeom prst="ellipse">
            <a:avLst/>
          </a:prstGeom>
          <a:solidFill>
            <a:srgbClr val="B512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924967" y="7931497"/>
            <a:ext cx="8437066" cy="1240036"/>
          </a:xfrm>
          <a:prstGeom prst="roundRect">
            <a:avLst>
              <a:gd name="adj" fmla="val 15823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1243012" y="8208466"/>
            <a:ext cx="686098" cy="686098"/>
          </a:xfrm>
          <a:prstGeom prst="ellipse">
            <a:avLst/>
          </a:prstGeom>
          <a:solidFill>
            <a:srgbClr val="B512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1196" y="11534180"/>
            <a:ext cx="380554" cy="380554"/>
          </a:xfrm>
          <a:prstGeom prst="rect">
            <a:avLst/>
          </a:prstGeom>
        </p:spPr>
      </p:pic>
      <p:sp>
        <p:nvSpPr>
          <p:cNvPr id="9" name="Forma"/>
          <p:cNvSpPr/>
          <p:nvPr/>
        </p:nvSpPr>
        <p:spPr>
          <a:xfrm>
            <a:off x="8532614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orma: on"/>
          <p:cNvSpPr/>
          <p:nvPr/>
        </p:nvSpPr>
        <p:spPr>
          <a:xfrm>
            <a:off x="8761809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o: tag"/>
          <p:cNvSpPr txBox="1"/>
          <p:nvPr/>
        </p:nvSpPr>
        <p:spPr>
          <a:xfrm>
            <a:off x="915442" y="1018941"/>
            <a:ext cx="1914346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397" lang="pt-BR">
                <a:solidFill>
                  <a:srgbClr val="B5121B"/>
                </a:solidFill>
                <a:latin typeface="Barlow"/>
                <a:ea typeface="Barlow"/>
                <a:cs typeface="Barlow"/>
              </a:rPr>
              <a:t>Em números</a:t>
            </a:r>
          </a:p>
        </p:txBody>
      </p:sp>
      <p:sp>
        <p:nvSpPr>
          <p:cNvPr id="13" name="Texto: h2"/>
          <p:cNvSpPr txBox="1"/>
          <p:nvPr/>
        </p:nvSpPr>
        <p:spPr>
          <a:xfrm>
            <a:off x="915442" y="3583140"/>
            <a:ext cx="7635716" cy="9335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O que fizemos juntos</a:t>
            </a:r>
          </a:p>
        </p:txBody>
      </p:sp>
      <p:sp>
        <p:nvSpPr>
          <p:cNvPr id="14" name="Texto: span"/>
          <p:cNvSpPr txBox="1"/>
          <p:nvPr/>
        </p:nvSpPr>
        <p:spPr>
          <a:xfrm>
            <a:off x="1488378" y="5402987"/>
            <a:ext cx="195218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1</a:t>
            </a:r>
          </a:p>
        </p:txBody>
      </p:sp>
      <p:sp>
        <p:nvSpPr>
          <p:cNvPr id="15" name="Texto: li"/>
          <p:cNvSpPr txBox="1"/>
          <p:nvPr/>
        </p:nvSpPr>
        <p:spPr>
          <a:xfrm>
            <a:off x="2175867" y="5388432"/>
            <a:ext cx="4922535" cy="5202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[PENDENTE: nº de posts]</a:t>
            </a:r>
          </a:p>
        </p:txBody>
      </p:sp>
      <p:sp>
        <p:nvSpPr>
          <p:cNvPr id="16" name="Texto: span"/>
          <p:cNvSpPr txBox="1"/>
          <p:nvPr/>
        </p:nvSpPr>
        <p:spPr>
          <a:xfrm>
            <a:off x="1456283" y="6867754"/>
            <a:ext cx="259556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2</a:t>
            </a:r>
          </a:p>
        </p:txBody>
      </p:sp>
      <p:sp>
        <p:nvSpPr>
          <p:cNvPr id="17" name="Texto: li"/>
          <p:cNvSpPr txBox="1"/>
          <p:nvPr/>
        </p:nvSpPr>
        <p:spPr>
          <a:xfrm>
            <a:off x="2175867" y="6853199"/>
            <a:ext cx="7285211" cy="5202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[PENDENTE: nº de itens arrecadados]</a:t>
            </a:r>
          </a:p>
        </p:txBody>
      </p:sp>
      <p:sp>
        <p:nvSpPr>
          <p:cNvPr id="18" name="Texto: span"/>
          <p:cNvSpPr txBox="1"/>
          <p:nvPr/>
        </p:nvSpPr>
        <p:spPr>
          <a:xfrm>
            <a:off x="1456618" y="8332520"/>
            <a:ext cx="258738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3</a:t>
            </a:r>
          </a:p>
        </p:txBody>
      </p:sp>
      <p:sp>
        <p:nvSpPr>
          <p:cNvPr id="19" name="Texto: li"/>
          <p:cNvSpPr txBox="1"/>
          <p:nvPr/>
        </p:nvSpPr>
        <p:spPr>
          <a:xfrm>
            <a:off x="2175867" y="8317965"/>
            <a:ext cx="7387858" cy="5202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[PENDENTE: nº de unidades visitadas]</a:t>
            </a:r>
          </a:p>
        </p:txBody>
      </p:sp>
      <p:sp>
        <p:nvSpPr>
          <p:cNvPr id="20" name="Texto: ponte"/>
          <p:cNvSpPr txBox="1"/>
          <p:nvPr/>
        </p:nvSpPr>
        <p:spPr>
          <a:xfrm>
            <a:off x="915442" y="11496457"/>
            <a:ext cx="1849517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Último slide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8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lo do projeto" descr="Selo do projeto Efeito Rebo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8530" y="3123158"/>
            <a:ext cx="1429792" cy="1429792"/>
          </a:xfrm>
          <a:prstGeom prst="rect">
            <a:avLst/>
          </a:prstGeom>
        </p:spPr>
      </p:pic>
      <p:sp>
        <p:nvSpPr>
          <p:cNvPr id="3" name="Forma: cta"/>
          <p:cNvSpPr/>
          <p:nvPr/>
        </p:nvSpPr>
        <p:spPr>
          <a:xfrm>
            <a:off x="2365772" y="8799463"/>
            <a:ext cx="5555307" cy="1069777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o: tag"/>
          <p:cNvSpPr txBox="1"/>
          <p:nvPr/>
        </p:nvSpPr>
        <p:spPr>
          <a:xfrm>
            <a:off x="4436313" y="4903206"/>
            <a:ext cx="1414373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397" lang="pt-BR">
                <a:solidFill>
                  <a:srgbClr val="E9C46A"/>
                </a:solidFill>
                <a:latin typeface="Barlow"/>
                <a:ea typeface="Barlow"/>
                <a:cs typeface="Barlow"/>
              </a:rPr>
              <a:t>Obrigado</a:t>
            </a:r>
          </a:p>
        </p:txBody>
      </p:sp>
      <p:sp>
        <p:nvSpPr>
          <p:cNvPr id="5" name="Texto: h2"/>
          <p:cNvSpPr txBox="1"/>
          <p:nvPr/>
        </p:nvSpPr>
        <p:spPr>
          <a:xfrm>
            <a:off x="944694" y="5523264"/>
            <a:ext cx="8397463" cy="28005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A cada pessoa que leu,</a:t>
            </a:r>
            <a:br/>
            <a:r>
              <a:rPr b="1" i="0" sz="7500" lang="pt-BR" spc="-113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compartilhou, doou ou</a:t>
            </a:r>
            <a:br/>
            <a:r>
              <a:rPr b="1" i="0" sz="7500" lang="pt-BR" spc="-113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comprou um bilhete.</a:t>
            </a:r>
          </a:p>
        </p:txBody>
      </p:sp>
      <p:sp>
        <p:nvSpPr>
          <p:cNvPr id="6" name="Texto: cta"/>
          <p:cNvSpPr txBox="1"/>
          <p:nvPr/>
        </p:nvSpPr>
        <p:spPr>
          <a:xfrm>
            <a:off x="2531872" y="9038830"/>
            <a:ext cx="5223108" cy="49377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388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3888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Siga @efeitorebote.oficial</a:t>
            </a:r>
          </a:p>
        </p:txBody>
      </p:sp>
      <p:pic>
        <p:nvPicPr>
          <p:cNvPr id="7" name="Seta de rebote" descr="Seta de rebote, marca do proje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071" y="853678"/>
            <a:ext cx="5904607" cy="590460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Efeito Rebo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Barlow Condense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Barlow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Efeito Rebote — Sex 06/11: Bastidores e agradecimento</dc:title>
  <dc:subject>Kit da Comunicação</dc:subject>
  <dc:creator>Efeito Rebote · Comunicação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pt-BR</dc:language>
</cp:coreProperties>
</file>