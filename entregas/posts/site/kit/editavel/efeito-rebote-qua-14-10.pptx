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Série Entenda o projeto · parte 2</a:t>
            </a:r>
          </a:p>
          <a:p>
            <a:r>
              <a:t>No Brasil, toda pena tem fim.</a:t>
            </a:r>
          </a:p>
          <a:p/>
          <a:p>
            <a:r>
              <a:t>LEGENDA PRONTA</a:t>
            </a:r>
          </a:p>
          <a:p>
            <a:r>
              <a:t>Em Maringá, a Casa de Custódia tinha 1.198 pessoas para 960 vagas. Na inspeção da Defensoria Pública do Paraná, em 21 de março de 2025, a unidade estava cerca de 25% acima da capacidade.</a:t>
            </a:r>
          </a:p>
          <a:p/>
          <a:p>
            <a:r>
              <a:t>Isso importa para quem está fora porque no Brasil não existe prisão perpétua. A Constituição proíbe penas de caráter perpétuo, e o Código Penal limita o cumprimento a 40 anos. Toda pessoa presa hoje vai voltar a conviver em sociedade, e as condições da pena influenciam como ela sai.</a:t>
            </a:r>
          </a:p>
          <a:p/>
          <a:p>
            <a:r>
              <a:t>Em lugares lotados e com pouca higiene, doenças se espalham com mais facilidade, e servidores e visitantes circulam por ali todos os dias. Garantir o básico funciona como prevenção.</a:t>
            </a:r>
          </a:p>
          <a:p/>
          <a:p>
            <a:r>
              <a:t>Na sexta, parte 3. Siga o perfil para não perder.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031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7845028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21129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4460294"/>
            <a:ext cx="4783381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Série Entenda o projeto · parte 2</a:t>
            </a:r>
          </a:p>
        </p:txBody>
      </p:sp>
      <p:sp>
        <p:nvSpPr>
          <p:cNvPr id="11" name="Texto: h1"/>
          <p:cNvSpPr txBox="1"/>
          <p:nvPr/>
        </p:nvSpPr>
        <p:spPr>
          <a:xfrm>
            <a:off x="915442" y="5000538"/>
            <a:ext cx="7034897" cy="24598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No Brasil, toda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pena tem fim.</a:t>
            </a:r>
          </a:p>
        </p:txBody>
      </p:sp>
      <p:sp>
        <p:nvSpPr>
          <p:cNvPr id="12" name="Texto: lead"/>
          <p:cNvSpPr txBox="1"/>
          <p:nvPr/>
        </p:nvSpPr>
        <p:spPr>
          <a:xfrm>
            <a:off x="915442" y="7960182"/>
            <a:ext cx="5404030" cy="1560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Quem está preso hoje vai voltar a conviver com a gente. Em que condições?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308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4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335167"/>
            <a:ext cx="8437066" cy="2436614"/>
          </a:xfrm>
          <a:prstGeom prst="roundRect">
            <a:avLst>
              <a:gd name="adj" fmla="val 805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877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204891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 que diz a lei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3982893"/>
            <a:ext cx="6965156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Não existe prisão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perpétua no Brasil.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6761372"/>
            <a:ext cx="7743682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Constituição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proíbe penas de caráter perpétuo (art. 5º, XLVII, b). O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Código Penal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limita o cumprimento a 40 anos (art. 75).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4331866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como está a lotação aqui?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023" y="11534031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249977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Aqui em Maringá</a:t>
            </a:r>
          </a:p>
        </p:txBody>
      </p:sp>
      <p:sp>
        <p:nvSpPr>
          <p:cNvPr id="10" name="Texto: num"/>
          <p:cNvSpPr txBox="1"/>
          <p:nvPr/>
        </p:nvSpPr>
        <p:spPr>
          <a:xfrm>
            <a:off x="915442" y="2718462"/>
            <a:ext cx="4845263" cy="24308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1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2518" lang="pt-BR" spc="-676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1.198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5949013"/>
            <a:ext cx="6783110" cy="14194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pessoas para 960 vagas</a:t>
            </a:r>
            <a:br/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na Casa de Custódia.</a:t>
            </a:r>
          </a:p>
        </p:txBody>
      </p:sp>
      <p:sp>
        <p:nvSpPr>
          <p:cNvPr id="12" name="Texto: p"/>
          <p:cNvSpPr txBox="1"/>
          <p:nvPr/>
        </p:nvSpPr>
        <p:spPr>
          <a:xfrm>
            <a:off x="915442" y="7862253"/>
            <a:ext cx="8586347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Cerca de 25% acima da capacidade no dia da inspeção.</a:t>
            </a:r>
          </a:p>
        </p:txBody>
      </p:sp>
      <p:sp>
        <p:nvSpPr>
          <p:cNvPr id="13" name="Texto: fonte"/>
          <p:cNvSpPr txBox="1"/>
          <p:nvPr/>
        </p:nvSpPr>
        <p:spPr>
          <a:xfrm>
            <a:off x="915442" y="9329540"/>
            <a:ext cx="5921826" cy="333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944" lang="pt-BR">
                <a:solidFill>
                  <a:srgbClr val="4A5568"/>
                </a:solidFill>
                <a:latin typeface="Barlow"/>
                <a:ea typeface="Barlow"/>
                <a:cs typeface="Barlow"/>
              </a:rPr>
              <a:t>Defensoria Pública do PR, inspeção de 21/03/2025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496308"/>
            <a:ext cx="614152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que isso muda para quem está fora?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039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99756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Saúde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4106420"/>
            <a:ext cx="5414486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Doença não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respeita muro.</a:t>
            </a:r>
          </a:p>
        </p:txBody>
      </p:sp>
      <p:sp>
        <p:nvSpPr>
          <p:cNvPr id="11" name="Texto: p"/>
          <p:cNvSpPr txBox="1"/>
          <p:nvPr/>
        </p:nvSpPr>
        <p:spPr>
          <a:xfrm>
            <a:off x="915442" y="6485296"/>
            <a:ext cx="8367346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Em lugares lotados e com pouca higiene, doenças se espalham com mais facilidade. Servidores e visitantes entram e saem todos os dias.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2988945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Então, o que fazer?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335167"/>
            <a:ext cx="8437066" cy="2436614"/>
          </a:xfrm>
          <a:prstGeom prst="roundRect">
            <a:avLst>
              <a:gd name="adj" fmla="val 805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172853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Em resumo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3982893"/>
            <a:ext cx="6303109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Garantir o básico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é prevenção.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6761372"/>
            <a:ext cx="7548122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Lei de Execução Penal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prevê assistência material, com instalações higiênicas (art. 12), e assistência à saúde (art. 14).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332738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3868571" y="5369931"/>
            <a:ext cx="254970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Na sexta, parte 3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526085" y="5989989"/>
            <a:ext cx="9234681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Escova de dente é direito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de quem está preso?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572105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Qua 14/10: No Brasil, toda pena tem fim.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