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Série Entenda o projeto · parte 2</a:t>
            </a:r>
          </a:p>
          <a:p>
            <a:r>
              <a:t>No Brasil, toda pena tem fim.</a:t>
            </a:r>
          </a:p>
          <a:p/>
          <a:p>
            <a:r>
              <a:t>LEGENDA PRONTA</a:t>
            </a:r>
          </a:p>
          <a:p>
            <a:r>
              <a:t>Em Maringá, a Casa de Custódia tinha 1.198 pessoas para 960 vagas. Na inspeção da Defensoria Pública do Paraná, em 21 de março de 2025, a unidade estava cerca de 25% acima da capacidade.</a:t>
            </a:r>
          </a:p>
          <a:p/>
          <a:p>
            <a:r>
              <a:t>Isso importa para quem está fora porque no Brasil não existe prisão perpétua. A Constituição proíbe penas de caráter perpétuo, e o Código Penal limita o cumprimento a 40 anos. Toda pessoa presa hoje vai voltar a conviver em sociedade, e as condições da pena influenciam como ela sai.</a:t>
            </a:r>
          </a:p>
          <a:p/>
          <a:p>
            <a:r>
              <a:t>Em lugares lotados e com pouca higiene, doenças se espalham com mais facilidade, e servidores e visitantes circulam por ali todos os dias. Garantir o básico funciona como prevenção.</a:t>
            </a:r>
          </a:p>
          <a:p/>
          <a:p>
            <a:r>
              <a:t>Na sexta, parte 3. Siga o perfil para não perder.</a:t>
            </a:r>
          </a:p>
          <a:p/>
          <a:p>
            <a:r>
              <a:t>#EfeitoRebote #SistemaPrisional #ExecuçãoPenal #DireitosHumanos #ExtensãoUniversitária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442" y="1049238"/>
            <a:ext cx="1429792" cy="1429792"/>
          </a:xfrm>
          <a:prstGeom prst="rect">
            <a:avLst/>
          </a:prstGeom>
        </p:spPr>
      </p:pic>
      <p:pic>
        <p:nvPicPr>
          <p:cNvPr id="3" name="Seta" descr="Se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468" y="11534031"/>
            <a:ext cx="380554" cy="380554"/>
          </a:xfrm>
          <a:prstGeom prst="rect">
            <a:avLst/>
          </a:prstGeom>
        </p:spPr>
      </p:pic>
      <p:sp>
        <p:nvSpPr>
          <p:cNvPr id="4" name="Forma: on"/>
          <p:cNvSpPr/>
          <p:nvPr/>
        </p:nvSpPr>
        <p:spPr>
          <a:xfrm>
            <a:off x="7845028" y="11809512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321129" y="11809512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8550325" y="11809512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8779520" y="11809512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008715" y="11809512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9237911" y="11809512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o: tag"/>
          <p:cNvSpPr txBox="1"/>
          <p:nvPr/>
        </p:nvSpPr>
        <p:spPr>
          <a:xfrm>
            <a:off x="915442" y="4521193"/>
            <a:ext cx="4783381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E9C46A"/>
                </a:solidFill>
                <a:latin typeface="Barlow SemiBold"/>
                <a:ea typeface="Barlow SemiBold"/>
                <a:cs typeface="Barlow SemiBold"/>
              </a:rPr>
              <a:t>Série Entenda o projeto · parte 2</a:t>
            </a:r>
          </a:p>
        </p:txBody>
      </p:sp>
      <p:sp>
        <p:nvSpPr>
          <p:cNvPr id="11" name="Texto: h1"/>
          <p:cNvSpPr txBox="1"/>
          <p:nvPr/>
        </p:nvSpPr>
        <p:spPr>
          <a:xfrm>
            <a:off x="915442" y="5276639"/>
            <a:ext cx="7034897" cy="24598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84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No Brasil, toda</a:t>
            </a:r>
            <a:br/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pena tem fim.</a:t>
            </a:r>
          </a:p>
        </p:txBody>
      </p:sp>
      <p:sp>
        <p:nvSpPr>
          <p:cNvPr id="12" name="Texto: lead"/>
          <p:cNvSpPr txBox="1"/>
          <p:nvPr/>
        </p:nvSpPr>
        <p:spPr>
          <a:xfrm>
            <a:off x="915442" y="7920166"/>
            <a:ext cx="5404030" cy="1560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E8EBF4"/>
                </a:solidFill>
                <a:latin typeface="Barlow"/>
                <a:ea typeface="Barlow"/>
                <a:cs typeface="Barlow"/>
              </a:rPr>
              <a:t>Quem está preso hoje vai voltar a conviver com a gente. Em que condições?</a:t>
            </a:r>
          </a:p>
        </p:txBody>
      </p:sp>
      <p:sp>
        <p:nvSpPr>
          <p:cNvPr id="13" name="Texto: ponte"/>
          <p:cNvSpPr txBox="1"/>
          <p:nvPr/>
        </p:nvSpPr>
        <p:spPr>
          <a:xfrm>
            <a:off x="915442" y="11515339"/>
            <a:ext cx="121071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E9C46A"/>
                </a:solidFill>
                <a:latin typeface="Barlow Condensed"/>
                <a:ea typeface="Barlow Condensed"/>
                <a:cs typeface="Barlow Condensed"/>
              </a:rPr>
              <a:t>Arraste</a:t>
            </a:r>
          </a:p>
        </p:txBody>
      </p:sp>
      <p:pic>
        <p:nvPicPr>
          <p:cNvPr id="14" name="Seta de rebote" descr="Seta de rebote, marca do proje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: box"/>
          <p:cNvSpPr/>
          <p:nvPr/>
        </p:nvSpPr>
        <p:spPr>
          <a:xfrm>
            <a:off x="924967" y="6335167"/>
            <a:ext cx="8437066" cy="2436614"/>
          </a:xfrm>
          <a:prstGeom prst="roundRect">
            <a:avLst>
              <a:gd name="adj" fmla="val 8052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7877" y="11534180"/>
            <a:ext cx="380554" cy="380554"/>
          </a:xfrm>
          <a:prstGeom prst="rect">
            <a:avLst/>
          </a:prstGeom>
        </p:spPr>
      </p:pic>
      <p:sp>
        <p:nvSpPr>
          <p:cNvPr id="4" name="Forma"/>
          <p:cNvSpPr/>
          <p:nvPr/>
        </p:nvSpPr>
        <p:spPr>
          <a:xfrm>
            <a:off x="7845028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: on"/>
          <p:cNvSpPr/>
          <p:nvPr/>
        </p:nvSpPr>
        <p:spPr>
          <a:xfrm>
            <a:off x="8074223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8550325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8779520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008715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o: tag"/>
          <p:cNvSpPr txBox="1"/>
          <p:nvPr/>
        </p:nvSpPr>
        <p:spPr>
          <a:xfrm>
            <a:off x="915442" y="1079840"/>
            <a:ext cx="2048917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O que diz a lei</a:t>
            </a:r>
          </a:p>
        </p:txBody>
      </p:sp>
      <p:sp>
        <p:nvSpPr>
          <p:cNvPr id="11" name="Texto: h2"/>
          <p:cNvSpPr txBox="1"/>
          <p:nvPr/>
        </p:nvSpPr>
        <p:spPr>
          <a:xfrm>
            <a:off x="915442" y="4192460"/>
            <a:ext cx="6965156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Não existe prisão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perpétua no Brasil.</a:t>
            </a:r>
          </a:p>
        </p:txBody>
      </p:sp>
      <p:sp>
        <p:nvSpPr>
          <p:cNvPr id="12" name="Texto: box"/>
          <p:cNvSpPr txBox="1"/>
          <p:nvPr/>
        </p:nvSpPr>
        <p:spPr>
          <a:xfrm>
            <a:off x="1353145" y="6689342"/>
            <a:ext cx="7743682" cy="16566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A </a:t>
            </a:r>
            <a:r>
              <a:rPr b="1" i="0" sz="3150" lang="pt-BR">
                <a:solidFill>
                  <a:srgbClr val="1B3A8C"/>
                </a:solidFill>
                <a:latin typeface="Barlow"/>
                <a:ea typeface="Barlow"/>
                <a:cs typeface="Barlow"/>
              </a:rPr>
              <a:t>Constituição</a:t>
            </a: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 proíbe penas de caráter perpétuo (art. 5º, XLVII, b). O </a:t>
            </a:r>
            <a:r>
              <a:rPr b="1" i="0" sz="3150" lang="pt-BR">
                <a:solidFill>
                  <a:srgbClr val="1B3A8C"/>
                </a:solidFill>
                <a:latin typeface="Barlow"/>
                <a:ea typeface="Barlow"/>
                <a:cs typeface="Barlow"/>
              </a:rPr>
              <a:t>Código Penal</a:t>
            </a: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 limita o cumprimento a 40 anos (art. 75).</a:t>
            </a:r>
          </a:p>
        </p:txBody>
      </p:sp>
      <p:sp>
        <p:nvSpPr>
          <p:cNvPr id="13" name="Texto: ponte"/>
          <p:cNvSpPr txBox="1"/>
          <p:nvPr/>
        </p:nvSpPr>
        <p:spPr>
          <a:xfrm>
            <a:off x="915442" y="11515488"/>
            <a:ext cx="4331866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 como está a lotação aqui?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023" y="11534031"/>
            <a:ext cx="380554" cy="380554"/>
          </a:xfrm>
          <a:prstGeom prst="rect">
            <a:avLst/>
          </a:prstGeom>
        </p:spPr>
      </p:pic>
      <p:sp>
        <p:nvSpPr>
          <p:cNvPr id="3" name="Forma"/>
          <p:cNvSpPr/>
          <p:nvPr/>
        </p:nvSpPr>
        <p:spPr>
          <a:xfrm>
            <a:off x="7845028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"/>
          <p:cNvSpPr/>
          <p:nvPr/>
        </p:nvSpPr>
        <p:spPr>
          <a:xfrm>
            <a:off x="8074223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: on"/>
          <p:cNvSpPr/>
          <p:nvPr/>
        </p:nvSpPr>
        <p:spPr>
          <a:xfrm>
            <a:off x="8303419" y="11809512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8779520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9008715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237911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o: tag"/>
          <p:cNvSpPr txBox="1"/>
          <p:nvPr/>
        </p:nvSpPr>
        <p:spPr>
          <a:xfrm>
            <a:off x="915442" y="1079840"/>
            <a:ext cx="2499777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Aqui em Maringá</a:t>
            </a:r>
          </a:p>
        </p:txBody>
      </p:sp>
      <p:sp>
        <p:nvSpPr>
          <p:cNvPr id="10" name="Texto: num"/>
          <p:cNvSpPr txBox="1"/>
          <p:nvPr/>
        </p:nvSpPr>
        <p:spPr>
          <a:xfrm>
            <a:off x="915442" y="3719387"/>
            <a:ext cx="4845263" cy="24308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2518" lang="pt-BR" spc="-676">
                <a:solidFill>
                  <a:srgbClr val="B5121B"/>
                </a:solidFill>
                <a:latin typeface="Barlow Condensed"/>
                <a:ea typeface="Barlow Condensed"/>
                <a:cs typeface="Barlow Condensed"/>
              </a:rPr>
              <a:t>1.198</a:t>
            </a:r>
          </a:p>
        </p:txBody>
      </p:sp>
      <p:sp>
        <p:nvSpPr>
          <p:cNvPr id="11" name="Texto: h2"/>
          <p:cNvSpPr txBox="1"/>
          <p:nvPr/>
        </p:nvSpPr>
        <p:spPr>
          <a:xfrm>
            <a:off x="915442" y="6108338"/>
            <a:ext cx="6783110" cy="14194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58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5702" lang="pt-BR" spc="-86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pessoas para 960 vagas</a:t>
            </a:r>
            <a:br/>
            <a:r>
              <a:rPr b="1" i="0" sz="5702" lang="pt-BR" spc="-86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na Casa de Custódia.</a:t>
            </a:r>
          </a:p>
        </p:txBody>
      </p:sp>
      <p:sp>
        <p:nvSpPr>
          <p:cNvPr id="12" name="Texto: p"/>
          <p:cNvSpPr txBox="1"/>
          <p:nvPr/>
        </p:nvSpPr>
        <p:spPr>
          <a:xfrm>
            <a:off x="915442" y="7790223"/>
            <a:ext cx="8586347" cy="11044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Cerca de 25% acima da capacidade no dia da inspeção.</a:t>
            </a:r>
          </a:p>
        </p:txBody>
      </p:sp>
      <p:sp>
        <p:nvSpPr>
          <p:cNvPr id="13" name="Texto: fonte"/>
          <p:cNvSpPr txBox="1"/>
          <p:nvPr/>
        </p:nvSpPr>
        <p:spPr>
          <a:xfrm>
            <a:off x="915442" y="9292507"/>
            <a:ext cx="5921826" cy="33329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944" lang="pt-BR">
                <a:solidFill>
                  <a:srgbClr val="4A5568"/>
                </a:solidFill>
                <a:latin typeface="Barlow"/>
                <a:ea typeface="Barlow"/>
                <a:cs typeface="Barlow"/>
              </a:rPr>
              <a:t>Defensoria Pública do PR, inspeção de 21/03/2025</a:t>
            </a:r>
          </a:p>
        </p:txBody>
      </p:sp>
      <p:sp>
        <p:nvSpPr>
          <p:cNvPr id="14" name="Texto: ponte"/>
          <p:cNvSpPr txBox="1"/>
          <p:nvPr/>
        </p:nvSpPr>
        <p:spPr>
          <a:xfrm>
            <a:off x="915442" y="11515339"/>
            <a:ext cx="614152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 o que isso muda para quem está fora?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7039" y="11534180"/>
            <a:ext cx="380554" cy="380554"/>
          </a:xfrm>
          <a:prstGeom prst="rect">
            <a:avLst/>
          </a:prstGeom>
        </p:spPr>
      </p:pic>
      <p:sp>
        <p:nvSpPr>
          <p:cNvPr id="3" name="Forma"/>
          <p:cNvSpPr/>
          <p:nvPr/>
        </p:nvSpPr>
        <p:spPr>
          <a:xfrm>
            <a:off x="7845028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"/>
          <p:cNvSpPr/>
          <p:nvPr/>
        </p:nvSpPr>
        <p:spPr>
          <a:xfrm>
            <a:off x="8074223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303419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: on"/>
          <p:cNvSpPr/>
          <p:nvPr/>
        </p:nvSpPr>
        <p:spPr>
          <a:xfrm>
            <a:off x="8532614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9008715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o: tag"/>
          <p:cNvSpPr txBox="1"/>
          <p:nvPr/>
        </p:nvSpPr>
        <p:spPr>
          <a:xfrm>
            <a:off x="915442" y="1079840"/>
            <a:ext cx="997565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Saúde</a:t>
            </a:r>
          </a:p>
        </p:txBody>
      </p:sp>
      <p:sp>
        <p:nvSpPr>
          <p:cNvPr id="10" name="Texto: h2"/>
          <p:cNvSpPr txBox="1"/>
          <p:nvPr/>
        </p:nvSpPr>
        <p:spPr>
          <a:xfrm>
            <a:off x="915442" y="4315987"/>
            <a:ext cx="5414486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Doença não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respeita muro.</a:t>
            </a:r>
          </a:p>
        </p:txBody>
      </p:sp>
      <p:sp>
        <p:nvSpPr>
          <p:cNvPr id="11" name="Texto: p"/>
          <p:cNvSpPr txBox="1"/>
          <p:nvPr/>
        </p:nvSpPr>
        <p:spPr>
          <a:xfrm>
            <a:off x="915442" y="6413266"/>
            <a:ext cx="8367346" cy="22089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Em lugares lotados e com pouca higiene, doenças se espalham com mais facilidade. Servidores e visitantes entram e saem todos os dias.</a:t>
            </a:r>
          </a:p>
        </p:txBody>
      </p:sp>
      <p:sp>
        <p:nvSpPr>
          <p:cNvPr id="12" name="Texto: ponte"/>
          <p:cNvSpPr txBox="1"/>
          <p:nvPr/>
        </p:nvSpPr>
        <p:spPr>
          <a:xfrm>
            <a:off x="915442" y="11515488"/>
            <a:ext cx="2988945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Então, o que fazer?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: box"/>
          <p:cNvSpPr/>
          <p:nvPr/>
        </p:nvSpPr>
        <p:spPr>
          <a:xfrm>
            <a:off x="924967" y="6335167"/>
            <a:ext cx="8437066" cy="2436614"/>
          </a:xfrm>
          <a:prstGeom prst="roundRect">
            <a:avLst>
              <a:gd name="adj" fmla="val 8052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196" y="11534180"/>
            <a:ext cx="380554" cy="380554"/>
          </a:xfrm>
          <a:prstGeom prst="rect">
            <a:avLst/>
          </a:prstGeom>
        </p:spPr>
      </p:pic>
      <p:sp>
        <p:nvSpPr>
          <p:cNvPr id="4" name="Forma"/>
          <p:cNvSpPr/>
          <p:nvPr/>
        </p:nvSpPr>
        <p:spPr>
          <a:xfrm>
            <a:off x="7845028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074223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8303419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8532614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: on"/>
          <p:cNvSpPr/>
          <p:nvPr/>
        </p:nvSpPr>
        <p:spPr>
          <a:xfrm>
            <a:off x="8761809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o: tag"/>
          <p:cNvSpPr txBox="1"/>
          <p:nvPr/>
        </p:nvSpPr>
        <p:spPr>
          <a:xfrm>
            <a:off x="915442" y="1079840"/>
            <a:ext cx="1728534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Em resumo</a:t>
            </a:r>
          </a:p>
        </p:txBody>
      </p:sp>
      <p:sp>
        <p:nvSpPr>
          <p:cNvPr id="11" name="Texto: h2"/>
          <p:cNvSpPr txBox="1"/>
          <p:nvPr/>
        </p:nvSpPr>
        <p:spPr>
          <a:xfrm>
            <a:off x="915442" y="4192460"/>
            <a:ext cx="6303109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Garantir o básico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é prevenção.</a:t>
            </a:r>
          </a:p>
        </p:txBody>
      </p:sp>
      <p:sp>
        <p:nvSpPr>
          <p:cNvPr id="12" name="Texto: box"/>
          <p:cNvSpPr txBox="1"/>
          <p:nvPr/>
        </p:nvSpPr>
        <p:spPr>
          <a:xfrm>
            <a:off x="1353145" y="6689342"/>
            <a:ext cx="7548122" cy="16566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A </a:t>
            </a:r>
            <a:r>
              <a:rPr b="1" i="0" sz="3150" lang="pt-BR">
                <a:solidFill>
                  <a:srgbClr val="1B3A8C"/>
                </a:solidFill>
                <a:latin typeface="Barlow"/>
                <a:ea typeface="Barlow"/>
                <a:cs typeface="Barlow"/>
              </a:rPr>
              <a:t>Lei de Execução Penal</a:t>
            </a: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 prevê assistência material, com instalações higiênicas (art. 12), e assistência à saúde (art. 14).</a:t>
            </a:r>
          </a:p>
        </p:txBody>
      </p:sp>
      <p:sp>
        <p:nvSpPr>
          <p:cNvPr id="13" name="Texto: ponte"/>
          <p:cNvSpPr txBox="1"/>
          <p:nvPr/>
        </p:nvSpPr>
        <p:spPr>
          <a:xfrm>
            <a:off x="915442" y="11515488"/>
            <a:ext cx="184951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Último slide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8530" y="3589883"/>
            <a:ext cx="1429792" cy="1429792"/>
          </a:xfrm>
          <a:prstGeom prst="rect">
            <a:avLst/>
          </a:prstGeom>
        </p:spPr>
      </p:pic>
      <p:sp>
        <p:nvSpPr>
          <p:cNvPr id="3" name="Forma: cta"/>
          <p:cNvSpPr/>
          <p:nvPr/>
        </p:nvSpPr>
        <p:spPr>
          <a:xfrm>
            <a:off x="2365772" y="8332738"/>
            <a:ext cx="5555307" cy="1069777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o: tag"/>
          <p:cNvSpPr txBox="1"/>
          <p:nvPr/>
        </p:nvSpPr>
        <p:spPr>
          <a:xfrm>
            <a:off x="3868571" y="5430830"/>
            <a:ext cx="2549709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E9C46A"/>
                </a:solidFill>
                <a:latin typeface="Barlow SemiBold"/>
                <a:ea typeface="Barlow SemiBold"/>
                <a:cs typeface="Barlow SemiBold"/>
              </a:rPr>
              <a:t>Na sexta, parte 3</a:t>
            </a:r>
          </a:p>
        </p:txBody>
      </p:sp>
      <p:sp>
        <p:nvSpPr>
          <p:cNvPr id="5" name="Texto: h2"/>
          <p:cNvSpPr txBox="1"/>
          <p:nvPr/>
        </p:nvSpPr>
        <p:spPr>
          <a:xfrm>
            <a:off x="526085" y="6199556"/>
            <a:ext cx="9234681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Escova de dente é direito</a:t>
            </a:r>
            <a:br/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de quem está preso?</a:t>
            </a:r>
          </a:p>
        </p:txBody>
      </p:sp>
      <p:sp>
        <p:nvSpPr>
          <p:cNvPr id="6" name="Texto: cta"/>
          <p:cNvSpPr txBox="1"/>
          <p:nvPr/>
        </p:nvSpPr>
        <p:spPr>
          <a:xfrm>
            <a:off x="2531872" y="8670860"/>
            <a:ext cx="5223108" cy="49377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388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888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Siga @efeitorebote.oficial</a:t>
            </a:r>
          </a:p>
        </p:txBody>
      </p:sp>
      <p:pic>
        <p:nvPicPr>
          <p:cNvPr id="7" name="Seta de rebote" descr="Seta de rebote, marca do proje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feito Rebo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Barlow Condense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rlow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Efeito Rebote — Qua 14/10: No Brasil, toda pena tem fim.</dc:title>
  <dc:subject>Kit da Comunicação</dc:subject>
  <dc:creator>Efeito Rebote · Comunicação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pt-BR</dc:language>
</cp:coreProperties>
</file>