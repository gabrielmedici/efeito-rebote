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Conheça a turma e as equipes por trás do projeto</a:t>
            </a:r>
          </a:p>
          <a:p/>
          <a:p>
            <a:r>
              <a:t>LEGENDA PRONTA</a:t>
            </a:r>
          </a:p>
          <a:p>
            <a:r>
              <a:t>Somos cerca de 80 acadêmicos do curso de Direito da UniCesumar. Neste semestre, estamos estudando a realidade das unidades prisionais de Maringá e transformando esse estudo em informação e ação.</a:t>
            </a:r>
          </a:p>
          <a:p/>
          <a:p>
            <a:r>
              <a:t>Nos organizamos em cinco equipes: Comunicação, Eventos, Relatório, Financeiro e Triagem. E todo mundo participa junto da arrecadação.</a:t>
            </a:r>
          </a:p>
          <a:p/>
          <a:p>
            <a:r>
              <a:t>Cada post que você vê aqui passa por pesquisa, revisão e aprovação da nossa professora antes de ser publicado.</a:t>
            </a:r>
          </a:p>
          <a:p/>
          <a:p>
            <a:r>
              <a:t>Marque um colega da turma nos comentários.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 (foto de referência)" descr="Fundo listrado: troque pela foto re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orma: cap"/>
          <p:cNvSpPr/>
          <p:nvPr/>
        </p:nvSpPr>
        <p:spPr>
          <a:xfrm>
            <a:off x="915442" y="9255175"/>
            <a:ext cx="8456116" cy="2688134"/>
          </a:xfrm>
          <a:prstGeom prst="roundRect">
            <a:avLst>
              <a:gd name="adj" fmla="val 7653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ph"/>
          <p:cNvSpPr txBox="1"/>
          <p:nvPr/>
        </p:nvSpPr>
        <p:spPr>
          <a:xfrm>
            <a:off x="915442" y="866305"/>
            <a:ext cx="8383384" cy="4474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2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429" lang="pt-BR" spc="194">
                <a:solidFill>
                  <a:srgbClr val="4A5568"/>
                </a:solidFill>
                <a:latin typeface="Barlow"/>
                <a:ea typeface="Barlow"/>
                <a:cs typeface="Barlow"/>
              </a:rPr>
              <a:t>FOTO DA TURMA (COM AUTORIZAÇÃO DE TODOS)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326803" y="9590793"/>
            <a:ext cx="6362864" cy="7460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87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5994" lang="pt-BR" spc="-9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Prazer, Efeito Rebote.</a:t>
            </a:r>
          </a:p>
        </p:txBody>
      </p:sp>
      <p:sp>
        <p:nvSpPr>
          <p:cNvPr id="6" name="Texto: p"/>
          <p:cNvSpPr txBox="1"/>
          <p:nvPr/>
        </p:nvSpPr>
        <p:spPr>
          <a:xfrm>
            <a:off x="1326803" y="10604443"/>
            <a:ext cx="6675910" cy="9653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0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754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Cerca de 80 acadêmicos de Direito da UniCesumar.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3057823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3334792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4522589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4799558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4967" y="5987355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6264325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4967" y="7452122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1243012" y="7729091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"/>
          <p:cNvSpPr/>
          <p:nvPr/>
        </p:nvSpPr>
        <p:spPr>
          <a:xfrm>
            <a:off x="924967" y="8916888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1243012" y="9193857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rma: fim"/>
          <p:cNvSpPr/>
          <p:nvPr/>
        </p:nvSpPr>
        <p:spPr>
          <a:xfrm>
            <a:off x="924967" y="10381655"/>
            <a:ext cx="8437066" cy="1074093"/>
          </a:xfrm>
          <a:prstGeom prst="roundRect">
            <a:avLst>
              <a:gd name="adj" fmla="val 18267"/>
            </a:avLst>
          </a:prstGeom>
          <a:solidFill>
            <a:srgbClr val="1B3A8C"/>
          </a:solidFill>
          <a:ln w="19050">
            <a:solidFill>
              <a:srgbClr val="1B3A8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291" y="11874252"/>
            <a:ext cx="380554" cy="380554"/>
          </a:xfrm>
          <a:prstGeom prst="rect">
            <a:avLst/>
          </a:prstGeom>
        </p:spPr>
      </p:pic>
      <p:sp>
        <p:nvSpPr>
          <p:cNvPr id="14" name="Forma"/>
          <p:cNvSpPr/>
          <p:nvPr/>
        </p:nvSpPr>
        <p:spPr>
          <a:xfrm>
            <a:off x="8303419" y="12149733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orma: on"/>
          <p:cNvSpPr/>
          <p:nvPr/>
        </p:nvSpPr>
        <p:spPr>
          <a:xfrm>
            <a:off x="8532614" y="12149733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orma"/>
          <p:cNvSpPr/>
          <p:nvPr/>
        </p:nvSpPr>
        <p:spPr>
          <a:xfrm>
            <a:off x="9008715" y="12149733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orma"/>
          <p:cNvSpPr/>
          <p:nvPr/>
        </p:nvSpPr>
        <p:spPr>
          <a:xfrm>
            <a:off x="9237911" y="12149733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o: tag"/>
          <p:cNvSpPr txBox="1"/>
          <p:nvPr/>
        </p:nvSpPr>
        <p:spPr>
          <a:xfrm>
            <a:off x="915442" y="1018941"/>
            <a:ext cx="348007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Como nos organizamos</a:t>
            </a:r>
          </a:p>
        </p:txBody>
      </p:sp>
      <p:sp>
        <p:nvSpPr>
          <p:cNvPr id="19" name="Texto: h2"/>
          <p:cNvSpPr txBox="1"/>
          <p:nvPr/>
        </p:nvSpPr>
        <p:spPr>
          <a:xfrm>
            <a:off x="915442" y="1638998"/>
            <a:ext cx="8244557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5 equipes, um objetivo</a:t>
            </a:r>
          </a:p>
        </p:txBody>
      </p:sp>
      <p:sp>
        <p:nvSpPr>
          <p:cNvPr id="20" name="Texto: span"/>
          <p:cNvSpPr txBox="1"/>
          <p:nvPr/>
        </p:nvSpPr>
        <p:spPr>
          <a:xfrm>
            <a:off x="1488378" y="3458845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21" name="Texto: li"/>
          <p:cNvSpPr txBox="1"/>
          <p:nvPr/>
        </p:nvSpPr>
        <p:spPr>
          <a:xfrm>
            <a:off x="2175867" y="3444290"/>
            <a:ext cx="2675766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Comunicação</a:t>
            </a:r>
          </a:p>
        </p:txBody>
      </p:sp>
      <p:sp>
        <p:nvSpPr>
          <p:cNvPr id="22" name="Texto: span"/>
          <p:cNvSpPr txBox="1"/>
          <p:nvPr/>
        </p:nvSpPr>
        <p:spPr>
          <a:xfrm>
            <a:off x="1456283" y="4923612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23" name="Texto: li"/>
          <p:cNvSpPr txBox="1"/>
          <p:nvPr/>
        </p:nvSpPr>
        <p:spPr>
          <a:xfrm>
            <a:off x="2175867" y="4909057"/>
            <a:ext cx="1620813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Eventos</a:t>
            </a:r>
          </a:p>
        </p:txBody>
      </p:sp>
      <p:sp>
        <p:nvSpPr>
          <p:cNvPr id="24" name="Texto: span"/>
          <p:cNvSpPr txBox="1"/>
          <p:nvPr/>
        </p:nvSpPr>
        <p:spPr>
          <a:xfrm>
            <a:off x="1456618" y="6388378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5" name="Texto: li"/>
          <p:cNvSpPr txBox="1"/>
          <p:nvPr/>
        </p:nvSpPr>
        <p:spPr>
          <a:xfrm>
            <a:off x="2175867" y="6373823"/>
            <a:ext cx="1804824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Relatório</a:t>
            </a:r>
          </a:p>
        </p:txBody>
      </p:sp>
      <p:sp>
        <p:nvSpPr>
          <p:cNvPr id="26" name="Texto: span"/>
          <p:cNvSpPr txBox="1"/>
          <p:nvPr/>
        </p:nvSpPr>
        <p:spPr>
          <a:xfrm>
            <a:off x="1446624" y="7853145"/>
            <a:ext cx="278874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4</a:t>
            </a:r>
          </a:p>
        </p:txBody>
      </p:sp>
      <p:sp>
        <p:nvSpPr>
          <p:cNvPr id="27" name="Texto: li"/>
          <p:cNvSpPr txBox="1"/>
          <p:nvPr/>
        </p:nvSpPr>
        <p:spPr>
          <a:xfrm>
            <a:off x="2175867" y="7838590"/>
            <a:ext cx="2106707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Financeiro</a:t>
            </a:r>
          </a:p>
        </p:txBody>
      </p:sp>
      <p:sp>
        <p:nvSpPr>
          <p:cNvPr id="28" name="Texto: span"/>
          <p:cNvSpPr txBox="1"/>
          <p:nvPr/>
        </p:nvSpPr>
        <p:spPr>
          <a:xfrm>
            <a:off x="1455963" y="9317911"/>
            <a:ext cx="260047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5</a:t>
            </a:r>
          </a:p>
        </p:txBody>
      </p:sp>
      <p:sp>
        <p:nvSpPr>
          <p:cNvPr id="29" name="Texto: li"/>
          <p:cNvSpPr txBox="1"/>
          <p:nvPr/>
        </p:nvSpPr>
        <p:spPr>
          <a:xfrm>
            <a:off x="2175867" y="9303356"/>
            <a:ext cx="1634564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Triagem</a:t>
            </a:r>
          </a:p>
        </p:txBody>
      </p:sp>
      <p:sp>
        <p:nvSpPr>
          <p:cNvPr id="30" name="Texto: fim"/>
          <p:cNvSpPr txBox="1"/>
          <p:nvPr/>
        </p:nvSpPr>
        <p:spPr>
          <a:xfrm>
            <a:off x="1243012" y="10685225"/>
            <a:ext cx="8192170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FFFFFF"/>
                </a:solidFill>
                <a:latin typeface="Barlow"/>
                <a:ea typeface="Barlow"/>
                <a:cs typeface="Barlow"/>
              </a:rPr>
              <a:t>E todos juntos na Arrecadação e Captação.</a:t>
            </a:r>
          </a:p>
        </p:txBody>
      </p:sp>
      <p:sp>
        <p:nvSpPr>
          <p:cNvPr id="31" name="Texto: ponte"/>
          <p:cNvSpPr txBox="1"/>
          <p:nvPr/>
        </p:nvSpPr>
        <p:spPr>
          <a:xfrm>
            <a:off x="915442" y="11836529"/>
            <a:ext cx="3156421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quem revisa tudo?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 (foto de referência)" descr="Fundo listrado: troque pela foto re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Forma: cap"/>
          <p:cNvSpPr/>
          <p:nvPr/>
        </p:nvSpPr>
        <p:spPr>
          <a:xfrm>
            <a:off x="915442" y="9255175"/>
            <a:ext cx="8456116" cy="2688134"/>
          </a:xfrm>
          <a:prstGeom prst="roundRect">
            <a:avLst>
              <a:gd name="adj" fmla="val 7653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ph"/>
          <p:cNvSpPr txBox="1"/>
          <p:nvPr/>
        </p:nvSpPr>
        <p:spPr>
          <a:xfrm>
            <a:off x="915442" y="866305"/>
            <a:ext cx="7403574" cy="4474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52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429" lang="pt-BR" spc="194">
                <a:solidFill>
                  <a:srgbClr val="4A5568"/>
                </a:solidFill>
                <a:latin typeface="Barlow"/>
                <a:ea typeface="Barlow"/>
                <a:cs typeface="Barlow"/>
              </a:rPr>
              <a:t>FOTO DE UMA REUNIÃO OU DE UMA EQUIPE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326803" y="9590793"/>
            <a:ext cx="6295087" cy="7460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87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5994" lang="pt-BR" spc="-9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Por trás de cada post</a:t>
            </a:r>
          </a:p>
        </p:txBody>
      </p:sp>
      <p:sp>
        <p:nvSpPr>
          <p:cNvPr id="6" name="Texto: p"/>
          <p:cNvSpPr txBox="1"/>
          <p:nvPr/>
        </p:nvSpPr>
        <p:spPr>
          <a:xfrm>
            <a:off x="1326803" y="10604443"/>
            <a:ext cx="7805516" cy="9653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01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754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Pesquisa, revisão e aprovação da professora antes de publicar.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332738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466436" y="5369931"/>
            <a:ext cx="135412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Na sexta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2025015" y="5989989"/>
            <a:ext cx="6236970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O Efeito Rebote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em 30 segundos.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572105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Qua 21/10: Conheça a turma e as equipes por trás do projeto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