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Opção A · Número na capa · </a:t>
            </a:r>
          </a:p>
          <a:p>
            <a:r>
              <a:t>[PENDENTE: nº] itens de higiene entregues em Maringá.</a:t>
            </a:r>
          </a:p>
          <a:p/>
          <a:p>
            <a:r>
              <a:t>LEGENDA PRONTA</a:t>
            </a:r>
          </a:p>
          <a:p>
            <a:r>
              <a:t>Contamos item por item: [PENDENTE: nº] itens de higiene chegaram às unidades prisionais de Maringá na visita técnica de 04 e 05/11.</a:t>
            </a:r>
          </a:p>
          <a:p/>
          <a:p>
            <a:r>
              <a:t>A equipe de Triagem conferiu cada escova, creme dental, aparelho de barbear, pacote de sabão em pó e detergente antes da entrega. Os números por item estão no carrossel.</a:t>
            </a:r>
          </a:p>
          <a:p/>
          <a:p>
            <a:r>
              <a:t>Na terça, a prestação de contas completa, com a divisão por unidade. Siga o perfil para acompanhar.</a:t>
            </a:r>
          </a:p>
          <a:p/>
          <a:p>
            <a:r>
              <a:t>#EfeitoRebote #SistemaPrisional #ExecuçãoPenal #DireitosHumanos #ExtensãoUniversitária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de 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442" y="1049238"/>
            <a:ext cx="1429792" cy="1429792"/>
          </a:xfrm>
          <a:prstGeom prst="rect">
            <a:avLst/>
          </a:prstGeom>
        </p:spPr>
      </p:pic>
      <p:pic>
        <p:nvPicPr>
          <p:cNvPr id="3" name="Seta" descr="Seta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0468" y="11534031"/>
            <a:ext cx="380554" cy="380554"/>
          </a:xfrm>
          <a:prstGeom prst="rect">
            <a:avLst/>
          </a:prstGeom>
        </p:spPr>
      </p:pic>
      <p:sp>
        <p:nvSpPr>
          <p:cNvPr id="4" name="Forma: on"/>
          <p:cNvSpPr/>
          <p:nvPr/>
        </p:nvSpPr>
        <p:spPr>
          <a:xfrm>
            <a:off x="8074223" y="11809512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5032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8779520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008715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37911" y="11809512"/>
            <a:ext cx="133648" cy="133648"/>
          </a:xfrm>
          <a:prstGeom prst="ellipse">
            <a:avLst/>
          </a:prstGeom>
          <a:solidFill>
            <a:srgbClr val="5F75A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o: tag"/>
          <p:cNvSpPr txBox="1"/>
          <p:nvPr/>
        </p:nvSpPr>
        <p:spPr>
          <a:xfrm>
            <a:off x="915442" y="3154178"/>
            <a:ext cx="2627962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Resultado parcial</a:t>
            </a:r>
          </a:p>
        </p:txBody>
      </p:sp>
      <p:sp>
        <p:nvSpPr>
          <p:cNvPr id="10" name="Texto: h1"/>
          <p:cNvSpPr txBox="1"/>
          <p:nvPr/>
        </p:nvSpPr>
        <p:spPr>
          <a:xfrm>
            <a:off x="915442" y="3694422"/>
            <a:ext cx="7660273" cy="49196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9684"/>
              </a:lnSpc>
              <a:spcBef>
                <a:spcPts val="0"/>
              </a:spcBef>
              <a:spcAft>
                <a:spcPts val="0"/>
              </a:spcAft>
            </a:pPr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[PENDENTE: nº]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itens de higiene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entregues</a:t>
            </a:r>
            <a:br/>
            <a:r>
              <a:rPr b="1" i="0" sz="9882" lang="pt-BR" spc="-148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em Maringá.</a:t>
            </a:r>
          </a:p>
        </p:txBody>
      </p:sp>
      <p:sp>
        <p:nvSpPr>
          <p:cNvPr id="11" name="Texto: lead"/>
          <p:cNvSpPr txBox="1"/>
          <p:nvPr/>
        </p:nvSpPr>
        <p:spPr>
          <a:xfrm>
            <a:off x="915442" y="9113898"/>
            <a:ext cx="5492136" cy="104042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E8EBF4"/>
                </a:solidFill>
                <a:latin typeface="Barlow"/>
                <a:ea typeface="Barlow"/>
                <a:cs typeface="Barlow"/>
              </a:rPr>
              <a:t>O que a turma e vocês fizeram até aqui.</a:t>
            </a:r>
          </a:p>
        </p:txBody>
      </p:sp>
      <p:sp>
        <p:nvSpPr>
          <p:cNvPr id="12" name="Texto: fonte"/>
          <p:cNvSpPr txBox="1"/>
          <p:nvPr/>
        </p:nvSpPr>
        <p:spPr>
          <a:xfrm>
            <a:off x="915442" y="10485488"/>
            <a:ext cx="3846790" cy="33329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624"/>
              </a:lnSpc>
              <a:spcBef>
                <a:spcPts val="0"/>
              </a:spcBef>
              <a:spcAft>
                <a:spcPts val="0"/>
              </a:spcAft>
            </a:pPr>
            <a:r>
              <a:rPr b="0" i="0" sz="1944" lang="pt-BR">
                <a:solidFill>
                  <a:srgbClr val="BBC4DD"/>
                </a:solidFill>
                <a:latin typeface="Barlow"/>
                <a:ea typeface="Barlow"/>
                <a:cs typeface="Barlow"/>
              </a:rPr>
              <a:t>Contagem da equipe de Triagem</a:t>
            </a:r>
          </a:p>
        </p:txBody>
      </p:sp>
      <p:sp>
        <p:nvSpPr>
          <p:cNvPr id="13" name="Texto: ponte"/>
          <p:cNvSpPr txBox="1"/>
          <p:nvPr/>
        </p:nvSpPr>
        <p:spPr>
          <a:xfrm>
            <a:off x="915442" y="11496308"/>
            <a:ext cx="12107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E9C46A"/>
                </a:solidFill>
                <a:latin typeface="Barlow Condensed"/>
                <a:ea typeface="Barlow Condensed"/>
                <a:cs typeface="Barlow Condensed"/>
              </a:rPr>
              <a:t>Arraste</a:t>
            </a:r>
          </a:p>
        </p:txBody>
      </p:sp>
      <p:pic>
        <p:nvPicPr>
          <p:cNvPr id="14" name="Seta de rebote" descr="Seta de rebote, marca do proje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orma"/>
          <p:cNvSpPr/>
          <p:nvPr/>
        </p:nvSpPr>
        <p:spPr>
          <a:xfrm>
            <a:off x="924967" y="3537198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orma"/>
          <p:cNvSpPr/>
          <p:nvPr/>
        </p:nvSpPr>
        <p:spPr>
          <a:xfrm>
            <a:off x="1243012" y="3814167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924967" y="50019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1243012" y="5278934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24967" y="6466731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1243012" y="6743700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Forma"/>
          <p:cNvSpPr/>
          <p:nvPr/>
        </p:nvSpPr>
        <p:spPr>
          <a:xfrm>
            <a:off x="924967" y="7931497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orma"/>
          <p:cNvSpPr/>
          <p:nvPr/>
        </p:nvSpPr>
        <p:spPr>
          <a:xfrm>
            <a:off x="1243012" y="8208466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Forma"/>
          <p:cNvSpPr/>
          <p:nvPr/>
        </p:nvSpPr>
        <p:spPr>
          <a:xfrm>
            <a:off x="924967" y="9396264"/>
            <a:ext cx="8437066" cy="1240036"/>
          </a:xfrm>
          <a:prstGeom prst="roundRect">
            <a:avLst>
              <a:gd name="adj" fmla="val 15823"/>
            </a:avLst>
          </a:prstGeom>
          <a:solidFill>
            <a:srgbClr val="FFFFFF"/>
          </a:solidFill>
          <a:ln w="19050">
            <a:solidFill>
              <a:srgbClr val="DCE1E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Forma"/>
          <p:cNvSpPr/>
          <p:nvPr/>
        </p:nvSpPr>
        <p:spPr>
          <a:xfrm>
            <a:off x="1243012" y="9673233"/>
            <a:ext cx="686098" cy="686098"/>
          </a:xfrm>
          <a:prstGeom prst="ellipse">
            <a:avLst/>
          </a:prstGeom>
          <a:solidFill>
            <a:srgbClr val="B5121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260" y="11534180"/>
            <a:ext cx="380554" cy="380554"/>
          </a:xfrm>
          <a:prstGeom prst="rect">
            <a:avLst/>
          </a:prstGeom>
        </p:spPr>
      </p:pic>
      <p:sp>
        <p:nvSpPr>
          <p:cNvPr id="1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Forma: on"/>
          <p:cNvSpPr/>
          <p:nvPr/>
        </p:nvSpPr>
        <p:spPr>
          <a:xfrm>
            <a:off x="830341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Forma"/>
          <p:cNvSpPr/>
          <p:nvPr/>
        </p:nvSpPr>
        <p:spPr>
          <a:xfrm>
            <a:off x="8779520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o: tag"/>
          <p:cNvSpPr txBox="1"/>
          <p:nvPr/>
        </p:nvSpPr>
        <p:spPr>
          <a:xfrm>
            <a:off x="915442" y="1018941"/>
            <a:ext cx="1312054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Por item</a:t>
            </a:r>
          </a:p>
        </p:txBody>
      </p:sp>
      <p:sp>
        <p:nvSpPr>
          <p:cNvPr id="19" name="Texto: h2"/>
          <p:cNvSpPr txBox="1"/>
          <p:nvPr/>
        </p:nvSpPr>
        <p:spPr>
          <a:xfrm>
            <a:off x="915442" y="2118374"/>
            <a:ext cx="6124992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Quantos de cada</a:t>
            </a:r>
          </a:p>
        </p:txBody>
      </p:sp>
      <p:sp>
        <p:nvSpPr>
          <p:cNvPr id="20" name="Texto: span"/>
          <p:cNvSpPr txBox="1"/>
          <p:nvPr/>
        </p:nvSpPr>
        <p:spPr>
          <a:xfrm>
            <a:off x="1488378" y="3938221"/>
            <a:ext cx="19521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1</a:t>
            </a:r>
          </a:p>
        </p:txBody>
      </p:sp>
      <p:sp>
        <p:nvSpPr>
          <p:cNvPr id="21" name="Texto: it"/>
          <p:cNvSpPr txBox="1"/>
          <p:nvPr/>
        </p:nvSpPr>
        <p:spPr>
          <a:xfrm>
            <a:off x="2175867" y="3923666"/>
            <a:ext cx="4395386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Escovas: [PENDENTE]</a:t>
            </a:r>
          </a:p>
        </p:txBody>
      </p:sp>
      <p:sp>
        <p:nvSpPr>
          <p:cNvPr id="22" name="Texto: span"/>
          <p:cNvSpPr txBox="1"/>
          <p:nvPr/>
        </p:nvSpPr>
        <p:spPr>
          <a:xfrm>
            <a:off x="1456283" y="5402987"/>
            <a:ext cx="259556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2</a:t>
            </a:r>
          </a:p>
        </p:txBody>
      </p:sp>
      <p:sp>
        <p:nvSpPr>
          <p:cNvPr id="23" name="Texto: it"/>
          <p:cNvSpPr txBox="1"/>
          <p:nvPr/>
        </p:nvSpPr>
        <p:spPr>
          <a:xfrm>
            <a:off x="2175867" y="5388432"/>
            <a:ext cx="579003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Cremes dentais: [PENDENTE]</a:t>
            </a:r>
          </a:p>
        </p:txBody>
      </p:sp>
      <p:sp>
        <p:nvSpPr>
          <p:cNvPr id="24" name="Texto: span"/>
          <p:cNvSpPr txBox="1"/>
          <p:nvPr/>
        </p:nvSpPr>
        <p:spPr>
          <a:xfrm>
            <a:off x="1456618" y="6867754"/>
            <a:ext cx="258738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3</a:t>
            </a:r>
          </a:p>
        </p:txBody>
      </p:sp>
      <p:sp>
        <p:nvSpPr>
          <p:cNvPr id="25" name="Texto: it"/>
          <p:cNvSpPr txBox="1"/>
          <p:nvPr/>
        </p:nvSpPr>
        <p:spPr>
          <a:xfrm>
            <a:off x="2175867" y="6853199"/>
            <a:ext cx="6863655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Aparelhos de barbear: [PENDENTE]</a:t>
            </a:r>
          </a:p>
        </p:txBody>
      </p:sp>
      <p:sp>
        <p:nvSpPr>
          <p:cNvPr id="26" name="Texto: span"/>
          <p:cNvSpPr txBox="1"/>
          <p:nvPr/>
        </p:nvSpPr>
        <p:spPr>
          <a:xfrm>
            <a:off x="1446624" y="8332520"/>
            <a:ext cx="278874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4</a:t>
            </a:r>
          </a:p>
        </p:txBody>
      </p:sp>
      <p:sp>
        <p:nvSpPr>
          <p:cNvPr id="27" name="Texto: it"/>
          <p:cNvSpPr txBox="1"/>
          <p:nvPr/>
        </p:nvSpPr>
        <p:spPr>
          <a:xfrm>
            <a:off x="2175867" y="8317965"/>
            <a:ext cx="5250939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Sabão em pó: [PENDENTE]</a:t>
            </a:r>
          </a:p>
        </p:txBody>
      </p:sp>
      <p:sp>
        <p:nvSpPr>
          <p:cNvPr id="28" name="Texto: span"/>
          <p:cNvSpPr txBox="1"/>
          <p:nvPr/>
        </p:nvSpPr>
        <p:spPr>
          <a:xfrm>
            <a:off x="1455963" y="9797286"/>
            <a:ext cx="260047" cy="68614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5403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5</a:t>
            </a:r>
          </a:p>
        </p:txBody>
      </p:sp>
      <p:sp>
        <p:nvSpPr>
          <p:cNvPr id="29" name="Texto: it"/>
          <p:cNvSpPr txBox="1"/>
          <p:nvPr/>
        </p:nvSpPr>
        <p:spPr>
          <a:xfrm>
            <a:off x="2175867" y="9782731"/>
            <a:ext cx="5167774" cy="52021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096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Detergentes: [PENDENTE]</a:t>
            </a:r>
          </a:p>
        </p:txBody>
      </p:sp>
      <p:sp>
        <p:nvSpPr>
          <p:cNvPr id="30" name="Texto: ponte"/>
          <p:cNvSpPr txBox="1"/>
          <p:nvPr/>
        </p:nvSpPr>
        <p:spPr>
          <a:xfrm>
            <a:off x="915442" y="11496457"/>
            <a:ext cx="388018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onde foram entregues?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795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: on"/>
          <p:cNvSpPr/>
          <p:nvPr/>
        </p:nvSpPr>
        <p:spPr>
          <a:xfrm>
            <a:off x="8532614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"/>
          <p:cNvSpPr/>
          <p:nvPr/>
        </p:nvSpPr>
        <p:spPr>
          <a:xfrm>
            <a:off x="9008715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1510799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A entrega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658572"/>
            <a:ext cx="5236369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Entregues na</a:t>
            </a:r>
            <a:br/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visita técnica.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7037448"/>
            <a:ext cx="8823653" cy="110445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Os itens chegaram às unidades em 04 e 05/11. A divisão por unidade sai na prestação de contas.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3037076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E o que vem agora?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ta" descr="Set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196" y="11534180"/>
            <a:ext cx="380554" cy="380554"/>
          </a:xfrm>
          <a:prstGeom prst="rect">
            <a:avLst/>
          </a:prstGeom>
        </p:spPr>
      </p:pic>
      <p:sp>
        <p:nvSpPr>
          <p:cNvPr id="3" name="Forma"/>
          <p:cNvSpPr/>
          <p:nvPr/>
        </p:nvSpPr>
        <p:spPr>
          <a:xfrm>
            <a:off x="8074223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orma"/>
          <p:cNvSpPr/>
          <p:nvPr/>
        </p:nvSpPr>
        <p:spPr>
          <a:xfrm>
            <a:off x="8303419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Forma"/>
          <p:cNvSpPr/>
          <p:nvPr/>
        </p:nvSpPr>
        <p:spPr>
          <a:xfrm>
            <a:off x="8532614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Forma: on"/>
          <p:cNvSpPr/>
          <p:nvPr/>
        </p:nvSpPr>
        <p:spPr>
          <a:xfrm>
            <a:off x="8761809" y="11809661"/>
            <a:ext cx="380554" cy="133648"/>
          </a:xfrm>
          <a:prstGeom prst="roundRect">
            <a:avLst>
              <a:gd name="adj" fmla="val 50000"/>
            </a:avLst>
          </a:prstGeom>
          <a:solidFill>
            <a:srgbClr val="1B3A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Forma"/>
          <p:cNvSpPr/>
          <p:nvPr/>
        </p:nvSpPr>
        <p:spPr>
          <a:xfrm>
            <a:off x="9237911" y="11809661"/>
            <a:ext cx="133648" cy="133648"/>
          </a:xfrm>
          <a:prstGeom prst="ellipse">
            <a:avLst/>
          </a:prstGeom>
          <a:solidFill>
            <a:srgbClr val="DCE1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o: tag"/>
          <p:cNvSpPr txBox="1"/>
          <p:nvPr/>
        </p:nvSpPr>
        <p:spPr>
          <a:xfrm>
            <a:off x="915442" y="1018941"/>
            <a:ext cx="2236693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B5121B"/>
                </a:solidFill>
                <a:latin typeface="Barlow"/>
                <a:ea typeface="Barlow"/>
                <a:cs typeface="Barlow"/>
              </a:rPr>
              <a:t>Próximo passo</a:t>
            </a:r>
          </a:p>
        </p:txBody>
      </p:sp>
      <p:sp>
        <p:nvSpPr>
          <p:cNvPr id="9" name="Texto: h2"/>
          <p:cNvSpPr txBox="1"/>
          <p:nvPr/>
        </p:nvSpPr>
        <p:spPr>
          <a:xfrm>
            <a:off x="915442" y="4849221"/>
            <a:ext cx="6661309" cy="93352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A conta completa.</a:t>
            </a:r>
          </a:p>
        </p:txBody>
      </p:sp>
      <p:sp>
        <p:nvSpPr>
          <p:cNvPr id="10" name="Texto: p"/>
          <p:cNvSpPr txBox="1"/>
          <p:nvPr/>
        </p:nvSpPr>
        <p:spPr>
          <a:xfrm>
            <a:off x="915442" y="6294647"/>
            <a:ext cx="8614773" cy="165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348"/>
              </a:lnSpc>
              <a:spcBef>
                <a:spcPts val="0"/>
              </a:spcBef>
              <a:spcAft>
                <a:spcPts val="0"/>
              </a:spcAft>
            </a:pPr>
            <a:r>
              <a:rPr b="0" i="0" sz="3150" lang="pt-BR">
                <a:solidFill>
                  <a:srgbClr val="141B2D"/>
                </a:solidFill>
                <a:latin typeface="Barlow"/>
                <a:ea typeface="Barlow"/>
                <a:cs typeface="Barlow"/>
              </a:rPr>
              <a:t>Quanto entrou, quanto foi gasto e quantos itens cada unidade recebeu, com os comprovantes guardados pelo Financeiro.</a:t>
            </a:r>
          </a:p>
        </p:txBody>
      </p:sp>
      <p:sp>
        <p:nvSpPr>
          <p:cNvPr id="11" name="Texto: ponte"/>
          <p:cNvSpPr txBox="1"/>
          <p:nvPr/>
        </p:nvSpPr>
        <p:spPr>
          <a:xfrm>
            <a:off x="915442" y="11496457"/>
            <a:ext cx="1849517" cy="43771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447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997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Último slide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8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Selo do projeto" descr="Selo do projeto Efeito Rebo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530" y="3589883"/>
            <a:ext cx="1429792" cy="1429792"/>
          </a:xfrm>
          <a:prstGeom prst="rect">
            <a:avLst/>
          </a:prstGeom>
        </p:spPr>
      </p:pic>
      <p:sp>
        <p:nvSpPr>
          <p:cNvPr id="3" name="Forma: cta"/>
          <p:cNvSpPr/>
          <p:nvPr/>
        </p:nvSpPr>
        <p:spPr>
          <a:xfrm>
            <a:off x="2365772" y="8332738"/>
            <a:ext cx="5555307" cy="1069777"/>
          </a:xfrm>
          <a:prstGeom prst="roundRect">
            <a:avLst>
              <a:gd name="adj" fmla="val 50000"/>
            </a:avLst>
          </a:prstGeom>
          <a:solidFill>
            <a:srgbClr val="E9C4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o: tag"/>
          <p:cNvSpPr txBox="1"/>
          <p:nvPr/>
        </p:nvSpPr>
        <p:spPr>
          <a:xfrm>
            <a:off x="4483462" y="5369931"/>
            <a:ext cx="1320076" cy="3044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39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2397" lang="pt-BR">
                <a:solidFill>
                  <a:srgbClr val="E9C46A"/>
                </a:solidFill>
                <a:latin typeface="Barlow"/>
                <a:ea typeface="Barlow"/>
                <a:cs typeface="Barlow"/>
              </a:rPr>
              <a:t>Na terça</a:t>
            </a:r>
          </a:p>
        </p:txBody>
      </p:sp>
      <p:sp>
        <p:nvSpPr>
          <p:cNvPr id="5" name="Texto: h2"/>
          <p:cNvSpPr txBox="1"/>
          <p:nvPr/>
        </p:nvSpPr>
        <p:spPr>
          <a:xfrm>
            <a:off x="1384749" y="5989989"/>
            <a:ext cx="7517353" cy="18670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7351"/>
              </a:lnSpc>
              <a:spcBef>
                <a:spcPts val="0"/>
              </a:spcBef>
              <a:spcAft>
                <a:spcPts val="0"/>
              </a:spcAft>
            </a:pPr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A prestação de</a:t>
            </a:r>
            <a:br/>
            <a:r>
              <a:rPr b="1" i="0" sz="7500" lang="pt-BR" spc="-113">
                <a:solidFill>
                  <a:srgbClr val="FFFFFF"/>
                </a:solidFill>
                <a:latin typeface="Barlow Condensed"/>
                <a:ea typeface="Barlow Condensed"/>
                <a:cs typeface="Barlow Condensed"/>
              </a:rPr>
              <a:t>contas, por unidade.</a:t>
            </a:r>
          </a:p>
        </p:txBody>
      </p:sp>
      <p:sp>
        <p:nvSpPr>
          <p:cNvPr id="6" name="Texto: cta"/>
          <p:cNvSpPr txBox="1"/>
          <p:nvPr/>
        </p:nvSpPr>
        <p:spPr>
          <a:xfrm>
            <a:off x="2531872" y="8572105"/>
            <a:ext cx="5223108" cy="493776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3888"/>
              </a:lnSpc>
              <a:spcBef>
                <a:spcPts val="0"/>
              </a:spcBef>
              <a:spcAft>
                <a:spcPts val="0"/>
              </a:spcAft>
            </a:pPr>
            <a:r>
              <a:rPr b="1" i="0" sz="3888" lang="pt-BR">
                <a:solidFill>
                  <a:srgbClr val="1B3A8C"/>
                </a:solidFill>
                <a:latin typeface="Barlow Condensed"/>
                <a:ea typeface="Barlow Condensed"/>
                <a:cs typeface="Barlow Condensed"/>
              </a:rPr>
              <a:t>Siga @efeitorebote.oficial</a:t>
            </a:r>
          </a:p>
        </p:txBody>
      </p:sp>
      <p:pic>
        <p:nvPicPr>
          <p:cNvPr id="7" name="Seta de rebote" descr="Seta de rebote, marca do proje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6071" y="853678"/>
            <a:ext cx="5904607" cy="5904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Efeito Rebo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Barlow Condense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Barlow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Efeito Rebote — Sáb 07/11: [PENDENTE: nº] itens de higiene entregues em Maringá.</dc:title>
  <dc:subject>Kit da Comunicação</dc:subject>
  <dc:creator>Efeito Rebote · Comunicação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pt-BR</dc:language>
</cp:coreProperties>
</file>