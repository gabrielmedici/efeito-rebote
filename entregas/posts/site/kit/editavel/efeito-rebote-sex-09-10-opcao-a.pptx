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Opção A · Carrossel pronto de 5 imagens · </a:t>
            </a:r>
          </a:p>
          <a:p>
            <a:r>
              <a:t>Efeito Rebote</a:t>
            </a:r>
          </a:p>
          <a:p/>
          <a:p>
            <a:r>
              <a:t>LEGENDA PRONTA</a:t>
            </a:r>
          </a:p>
          <a:p>
            <a:r>
              <a:t>Quando falta escova de dente numa unidade prisional, alguém precisa cobrir a falta. Muitas vezes, é a família.</a:t>
            </a:r>
          </a:p>
          <a:p/>
          <a:p>
            <a:r>
              <a:t>A Lei de Execução Penal prevê assistência material e à saúde para a pessoa presa (arts. 12 e 14). Nas inspeções da Defensoria Pública do Paraná em 2025, faltavam itens básicos de higiene em unidades de Maringá. Quando o básico falta lá dentro, o custo volta para fora, muitas vezes no orçamento das famílias. É esse ciclo que chamamos de efeito rebote.</a:t>
            </a:r>
          </a:p>
          <a:p/>
          <a:p>
            <a:r>
              <a:t>Somos estudantes de Direito da UniCesumar. Neste semestre, vamos estudar a realidade das unidades prisionais de Maringá e contar aqui o que encontrarmos, sempre com fonte.</a:t>
            </a:r>
          </a:p>
          <a:p/>
          <a:p>
            <a:r>
              <a:t>No domingo, o efeito rebote em 30 segundos. Siga o perfil para acompanhar.</a:t>
            </a:r>
          </a:p>
          <a:p/>
          <a:p>
            <a:r>
              <a:t>#EfeitoRebote #SistemaPrisional #ExecuçãoPenal #DireitosHumanos #ExtensãoUniversitária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 de 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 de 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 de 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5 de 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8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elo do projeto" descr="Selo do projeto Efeito Rebot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442" y="1049238"/>
            <a:ext cx="1429792" cy="1429792"/>
          </a:xfrm>
          <a:prstGeom prst="rect">
            <a:avLst/>
          </a:prstGeom>
        </p:spPr>
      </p:pic>
      <p:pic>
        <p:nvPicPr>
          <p:cNvPr id="3" name="Seta" descr="Set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0468" y="11534031"/>
            <a:ext cx="380554" cy="380554"/>
          </a:xfrm>
          <a:prstGeom prst="rect">
            <a:avLst/>
          </a:prstGeom>
        </p:spPr>
      </p:pic>
      <p:sp>
        <p:nvSpPr>
          <p:cNvPr id="4" name="Forma: on"/>
          <p:cNvSpPr/>
          <p:nvPr/>
        </p:nvSpPr>
        <p:spPr>
          <a:xfrm>
            <a:off x="8074223" y="11809512"/>
            <a:ext cx="380554" cy="133648"/>
          </a:xfrm>
          <a:prstGeom prst="roundRect">
            <a:avLst>
              <a:gd name="adj" fmla="val 50000"/>
            </a:avLst>
          </a:prstGeom>
          <a:solidFill>
            <a:srgbClr val="E9C4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rma"/>
          <p:cNvSpPr/>
          <p:nvPr/>
        </p:nvSpPr>
        <p:spPr>
          <a:xfrm>
            <a:off x="8550325" y="11809512"/>
            <a:ext cx="133648" cy="133648"/>
          </a:xfrm>
          <a:prstGeom prst="ellipse">
            <a:avLst/>
          </a:prstGeom>
          <a:solidFill>
            <a:srgbClr val="5F75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orma"/>
          <p:cNvSpPr/>
          <p:nvPr/>
        </p:nvSpPr>
        <p:spPr>
          <a:xfrm>
            <a:off x="8779520" y="11809512"/>
            <a:ext cx="133648" cy="133648"/>
          </a:xfrm>
          <a:prstGeom prst="ellipse">
            <a:avLst/>
          </a:prstGeom>
          <a:solidFill>
            <a:srgbClr val="5F75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orma"/>
          <p:cNvSpPr/>
          <p:nvPr/>
        </p:nvSpPr>
        <p:spPr>
          <a:xfrm>
            <a:off x="9008715" y="11809512"/>
            <a:ext cx="133648" cy="133648"/>
          </a:xfrm>
          <a:prstGeom prst="ellipse">
            <a:avLst/>
          </a:prstGeom>
          <a:solidFill>
            <a:srgbClr val="5F75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orma"/>
          <p:cNvSpPr/>
          <p:nvPr/>
        </p:nvSpPr>
        <p:spPr>
          <a:xfrm>
            <a:off x="9237911" y="11809512"/>
            <a:ext cx="133648" cy="133648"/>
          </a:xfrm>
          <a:prstGeom prst="ellipse">
            <a:avLst/>
          </a:prstGeom>
          <a:solidFill>
            <a:srgbClr val="5F75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o: tag"/>
          <p:cNvSpPr txBox="1"/>
          <p:nvPr/>
        </p:nvSpPr>
        <p:spPr>
          <a:xfrm>
            <a:off x="915442" y="5075252"/>
            <a:ext cx="4211866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E9C46A"/>
                </a:solidFill>
                <a:latin typeface="Barlow"/>
                <a:ea typeface="Barlow"/>
                <a:cs typeface="Barlow"/>
              </a:rPr>
              <a:t>Projeto de extensão · Direito</a:t>
            </a:r>
          </a:p>
        </p:txBody>
      </p:sp>
      <p:sp>
        <p:nvSpPr>
          <p:cNvPr id="10" name="Texto: h1"/>
          <p:cNvSpPr txBox="1"/>
          <p:nvPr/>
        </p:nvSpPr>
        <p:spPr>
          <a:xfrm>
            <a:off x="915442" y="5615496"/>
            <a:ext cx="6495142" cy="122991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684"/>
              </a:lnSpc>
              <a:spcBef>
                <a:spcPts val="0"/>
              </a:spcBef>
              <a:spcAft>
                <a:spcPts val="0"/>
              </a:spcAft>
            </a:pPr>
            <a:r>
              <a:rPr b="1" i="0" sz="9882" lang="pt-BR" spc="-148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Efeito Rebote</a:t>
            </a:r>
          </a:p>
        </p:txBody>
      </p:sp>
      <p:sp>
        <p:nvSpPr>
          <p:cNvPr id="11" name="Texto: lead"/>
          <p:cNvSpPr txBox="1"/>
          <p:nvPr/>
        </p:nvSpPr>
        <p:spPr>
          <a:xfrm>
            <a:off x="915442" y="7345224"/>
            <a:ext cx="5997705" cy="156064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096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E8EBF4"/>
                </a:solidFill>
                <a:latin typeface="Barlow"/>
                <a:ea typeface="Barlow"/>
                <a:cs typeface="Barlow"/>
              </a:rPr>
              <a:t>O custo da reincidência: o que acontece quando falta o básico dentro do sistema prisional.</a:t>
            </a:r>
          </a:p>
        </p:txBody>
      </p:sp>
      <p:sp>
        <p:nvSpPr>
          <p:cNvPr id="12" name="Texto: ponte"/>
          <p:cNvSpPr txBox="1"/>
          <p:nvPr/>
        </p:nvSpPr>
        <p:spPr>
          <a:xfrm>
            <a:off x="915442" y="11496308"/>
            <a:ext cx="1210717" cy="4377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4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E9C46A"/>
                </a:solidFill>
                <a:latin typeface="Barlow Condensed"/>
                <a:ea typeface="Barlow Condensed"/>
                <a:cs typeface="Barlow Condensed"/>
              </a:rPr>
              <a:t>Arraste</a:t>
            </a:r>
          </a:p>
        </p:txBody>
      </p:sp>
      <p:pic>
        <p:nvPicPr>
          <p:cNvPr id="13" name="Seta de rebote" descr="Seta de rebote, marca do projet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6071" y="853678"/>
            <a:ext cx="5904607" cy="590460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rma: box"/>
          <p:cNvSpPr/>
          <p:nvPr/>
        </p:nvSpPr>
        <p:spPr>
          <a:xfrm>
            <a:off x="924967" y="5125938"/>
            <a:ext cx="8437066" cy="2436614"/>
          </a:xfrm>
          <a:prstGeom prst="roundRect">
            <a:avLst>
              <a:gd name="adj" fmla="val 8052"/>
            </a:avLst>
          </a:prstGeom>
          <a:solidFill>
            <a:srgbClr val="FFFFFF"/>
          </a:solidFill>
          <a:ln w="19050">
            <a:solidFill>
              <a:srgbClr val="DCE1EC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" name="Seta" descr="Set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8749" y="11534031"/>
            <a:ext cx="380554" cy="380554"/>
          </a:xfrm>
          <a:prstGeom prst="rect">
            <a:avLst/>
          </a:prstGeom>
        </p:spPr>
      </p:pic>
      <p:sp>
        <p:nvSpPr>
          <p:cNvPr id="4" name="Forma"/>
          <p:cNvSpPr/>
          <p:nvPr/>
        </p:nvSpPr>
        <p:spPr>
          <a:xfrm>
            <a:off x="8074223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rma: on"/>
          <p:cNvSpPr/>
          <p:nvPr/>
        </p:nvSpPr>
        <p:spPr>
          <a:xfrm>
            <a:off x="8303419" y="11809512"/>
            <a:ext cx="380554" cy="133648"/>
          </a:xfrm>
          <a:prstGeom prst="roundRect">
            <a:avLst>
              <a:gd name="adj" fmla="val 50000"/>
            </a:avLst>
          </a:prstGeom>
          <a:solidFill>
            <a:srgbClr val="1B3A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orma"/>
          <p:cNvSpPr/>
          <p:nvPr/>
        </p:nvSpPr>
        <p:spPr>
          <a:xfrm>
            <a:off x="8779520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orma"/>
          <p:cNvSpPr/>
          <p:nvPr/>
        </p:nvSpPr>
        <p:spPr>
          <a:xfrm>
            <a:off x="9008715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orma"/>
          <p:cNvSpPr/>
          <p:nvPr/>
        </p:nvSpPr>
        <p:spPr>
          <a:xfrm>
            <a:off x="9237911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o: tag"/>
          <p:cNvSpPr txBox="1"/>
          <p:nvPr/>
        </p:nvSpPr>
        <p:spPr>
          <a:xfrm>
            <a:off x="915442" y="1018941"/>
            <a:ext cx="2048917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B5121B"/>
                </a:solidFill>
                <a:latin typeface="Barlow"/>
                <a:ea typeface="Barlow"/>
                <a:cs typeface="Barlow"/>
              </a:rPr>
              <a:t>O que diz a lei</a:t>
            </a:r>
          </a:p>
        </p:txBody>
      </p:sp>
      <p:sp>
        <p:nvSpPr>
          <p:cNvPr id="10" name="Texto: h2"/>
          <p:cNvSpPr txBox="1"/>
          <p:nvPr/>
        </p:nvSpPr>
        <p:spPr>
          <a:xfrm>
            <a:off x="915442" y="3707114"/>
            <a:ext cx="8806086" cy="9335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7351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Higiene básica é direito.</a:t>
            </a:r>
          </a:p>
        </p:txBody>
      </p:sp>
      <p:sp>
        <p:nvSpPr>
          <p:cNvPr id="11" name="Texto: box"/>
          <p:cNvSpPr txBox="1"/>
          <p:nvPr/>
        </p:nvSpPr>
        <p:spPr>
          <a:xfrm>
            <a:off x="1353145" y="5552143"/>
            <a:ext cx="7842876" cy="16566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348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A </a:t>
            </a:r>
            <a:r>
              <a:rPr b="1" i="0" sz="3150" lang="pt-BR">
                <a:solidFill>
                  <a:srgbClr val="1B3A8C"/>
                </a:solidFill>
                <a:latin typeface="Barlow"/>
                <a:ea typeface="Barlow"/>
                <a:cs typeface="Barlow"/>
              </a:rPr>
              <a:t>Lei de Execução Penal</a:t>
            </a: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 prevê assistência material e assistência à saúde (Lei nº 7.210/1984, arts. 12, 14 e 41).</a:t>
            </a:r>
          </a:p>
        </p:txBody>
      </p:sp>
      <p:sp>
        <p:nvSpPr>
          <p:cNvPr id="12" name="Texto: p"/>
          <p:cNvSpPr txBox="1"/>
          <p:nvPr/>
        </p:nvSpPr>
        <p:spPr>
          <a:xfrm>
            <a:off x="915442" y="7988757"/>
            <a:ext cx="8858182" cy="110445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348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Na prática, escova, creme dental e sabão muitas vezes não chegam. Quem paga é a família.</a:t>
            </a:r>
          </a:p>
        </p:txBody>
      </p:sp>
      <p:sp>
        <p:nvSpPr>
          <p:cNvPr id="13" name="Texto: ponte"/>
          <p:cNvSpPr txBox="1"/>
          <p:nvPr/>
        </p:nvSpPr>
        <p:spPr>
          <a:xfrm>
            <a:off x="915442" y="11496308"/>
            <a:ext cx="3364825" cy="4377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4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E o que isso provoca?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rma"/>
          <p:cNvSpPr/>
          <p:nvPr/>
        </p:nvSpPr>
        <p:spPr>
          <a:xfrm>
            <a:off x="924967" y="4382095"/>
            <a:ext cx="8437066" cy="1240036"/>
          </a:xfrm>
          <a:prstGeom prst="roundRect">
            <a:avLst>
              <a:gd name="adj" fmla="val 15823"/>
            </a:avLst>
          </a:prstGeom>
          <a:solidFill>
            <a:srgbClr val="FFFFFF"/>
          </a:solidFill>
          <a:ln w="19050">
            <a:solidFill>
              <a:srgbClr val="DCE1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orma"/>
          <p:cNvSpPr/>
          <p:nvPr/>
        </p:nvSpPr>
        <p:spPr>
          <a:xfrm>
            <a:off x="1243012" y="4659064"/>
            <a:ext cx="686098" cy="686098"/>
          </a:xfrm>
          <a:prstGeom prst="ellipse">
            <a:avLst/>
          </a:prstGeom>
          <a:solidFill>
            <a:srgbClr val="B5121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orma"/>
          <p:cNvSpPr/>
          <p:nvPr/>
        </p:nvSpPr>
        <p:spPr>
          <a:xfrm>
            <a:off x="924967" y="5846862"/>
            <a:ext cx="8437066" cy="1594247"/>
          </a:xfrm>
          <a:prstGeom prst="roundRect">
            <a:avLst>
              <a:gd name="adj" fmla="val 12307"/>
            </a:avLst>
          </a:prstGeom>
          <a:solidFill>
            <a:srgbClr val="FFFFFF"/>
          </a:solidFill>
          <a:ln w="19050">
            <a:solidFill>
              <a:srgbClr val="DCE1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rma"/>
          <p:cNvSpPr/>
          <p:nvPr/>
        </p:nvSpPr>
        <p:spPr>
          <a:xfrm>
            <a:off x="1243012" y="6300936"/>
            <a:ext cx="686098" cy="686098"/>
          </a:xfrm>
          <a:prstGeom prst="ellipse">
            <a:avLst/>
          </a:prstGeom>
          <a:solidFill>
            <a:srgbClr val="B5121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orma"/>
          <p:cNvSpPr/>
          <p:nvPr/>
        </p:nvSpPr>
        <p:spPr>
          <a:xfrm>
            <a:off x="924967" y="7665839"/>
            <a:ext cx="8437066" cy="1594247"/>
          </a:xfrm>
          <a:prstGeom prst="roundRect">
            <a:avLst>
              <a:gd name="adj" fmla="val 12307"/>
            </a:avLst>
          </a:prstGeom>
          <a:solidFill>
            <a:srgbClr val="FFFFFF"/>
          </a:solidFill>
          <a:ln w="19050">
            <a:solidFill>
              <a:srgbClr val="DCE1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orma"/>
          <p:cNvSpPr/>
          <p:nvPr/>
        </p:nvSpPr>
        <p:spPr>
          <a:xfrm>
            <a:off x="1243012" y="8119914"/>
            <a:ext cx="686098" cy="686098"/>
          </a:xfrm>
          <a:prstGeom prst="ellipse">
            <a:avLst/>
          </a:prstGeom>
          <a:solidFill>
            <a:srgbClr val="B5121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orma: volta"/>
          <p:cNvSpPr/>
          <p:nvPr/>
        </p:nvSpPr>
        <p:spPr>
          <a:xfrm>
            <a:off x="924967" y="9484816"/>
            <a:ext cx="8437066" cy="1240036"/>
          </a:xfrm>
          <a:prstGeom prst="roundRect">
            <a:avLst>
              <a:gd name="adj" fmla="val 15823"/>
            </a:avLst>
          </a:prstGeom>
          <a:solidFill>
            <a:srgbClr val="1B3A8C"/>
          </a:solidFill>
          <a:ln w="19050">
            <a:solidFill>
              <a:srgbClr val="1B3A8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orma"/>
          <p:cNvSpPr/>
          <p:nvPr/>
        </p:nvSpPr>
        <p:spPr>
          <a:xfrm>
            <a:off x="1243012" y="9761786"/>
            <a:ext cx="686098" cy="686098"/>
          </a:xfrm>
          <a:prstGeom prst="ellipse">
            <a:avLst/>
          </a:prstGeom>
          <a:solidFill>
            <a:srgbClr val="E9C4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Seta" descr="Set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5391" y="11534180"/>
            <a:ext cx="380554" cy="380554"/>
          </a:xfrm>
          <a:prstGeom prst="rect">
            <a:avLst/>
          </a:prstGeom>
        </p:spPr>
      </p:pic>
      <p:sp>
        <p:nvSpPr>
          <p:cNvPr id="11" name="Forma"/>
          <p:cNvSpPr/>
          <p:nvPr/>
        </p:nvSpPr>
        <p:spPr>
          <a:xfrm>
            <a:off x="8074223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orma"/>
          <p:cNvSpPr/>
          <p:nvPr/>
        </p:nvSpPr>
        <p:spPr>
          <a:xfrm>
            <a:off x="8303419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orma: on"/>
          <p:cNvSpPr/>
          <p:nvPr/>
        </p:nvSpPr>
        <p:spPr>
          <a:xfrm>
            <a:off x="8532614" y="11809661"/>
            <a:ext cx="380554" cy="133648"/>
          </a:xfrm>
          <a:prstGeom prst="roundRect">
            <a:avLst>
              <a:gd name="adj" fmla="val 50000"/>
            </a:avLst>
          </a:prstGeom>
          <a:solidFill>
            <a:srgbClr val="1B3A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orma"/>
          <p:cNvSpPr/>
          <p:nvPr/>
        </p:nvSpPr>
        <p:spPr>
          <a:xfrm>
            <a:off x="9008715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orma"/>
          <p:cNvSpPr/>
          <p:nvPr/>
        </p:nvSpPr>
        <p:spPr>
          <a:xfrm>
            <a:off x="9237911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o: tag"/>
          <p:cNvSpPr txBox="1"/>
          <p:nvPr/>
        </p:nvSpPr>
        <p:spPr>
          <a:xfrm>
            <a:off x="915442" y="1018941"/>
            <a:ext cx="2259122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B5121B"/>
                </a:solidFill>
                <a:latin typeface="Barlow"/>
                <a:ea typeface="Barlow"/>
                <a:cs typeface="Barlow"/>
              </a:rPr>
              <a:t>O efeito rebote</a:t>
            </a:r>
          </a:p>
        </p:txBody>
      </p:sp>
      <p:sp>
        <p:nvSpPr>
          <p:cNvPr id="17" name="Texto: h2"/>
          <p:cNvSpPr txBox="1"/>
          <p:nvPr/>
        </p:nvSpPr>
        <p:spPr>
          <a:xfrm>
            <a:off x="915442" y="2029821"/>
            <a:ext cx="6807011" cy="186704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7351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O básico que falta</a:t>
            </a:r>
            <a:br/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custa caro depois.</a:t>
            </a:r>
          </a:p>
        </p:txBody>
      </p:sp>
      <p:sp>
        <p:nvSpPr>
          <p:cNvPr id="18" name="Texto: span"/>
          <p:cNvSpPr txBox="1"/>
          <p:nvPr/>
        </p:nvSpPr>
        <p:spPr>
          <a:xfrm>
            <a:off x="1488378" y="4783118"/>
            <a:ext cx="195218" cy="68614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5403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1</a:t>
            </a:r>
          </a:p>
        </p:txBody>
      </p:sp>
      <p:sp>
        <p:nvSpPr>
          <p:cNvPr id="19" name="Texto: it"/>
          <p:cNvSpPr txBox="1"/>
          <p:nvPr/>
        </p:nvSpPr>
        <p:spPr>
          <a:xfrm>
            <a:off x="2175867" y="4768563"/>
            <a:ext cx="4736068" cy="52021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096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Falta material de higiene</a:t>
            </a:r>
          </a:p>
        </p:txBody>
      </p:sp>
      <p:sp>
        <p:nvSpPr>
          <p:cNvPr id="20" name="Texto: span"/>
          <p:cNvSpPr txBox="1"/>
          <p:nvPr/>
        </p:nvSpPr>
        <p:spPr>
          <a:xfrm>
            <a:off x="1456283" y="6424990"/>
            <a:ext cx="259556" cy="68614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5403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2</a:t>
            </a:r>
          </a:p>
        </p:txBody>
      </p:sp>
      <p:sp>
        <p:nvSpPr>
          <p:cNvPr id="21" name="Texto: it"/>
          <p:cNvSpPr txBox="1"/>
          <p:nvPr/>
        </p:nvSpPr>
        <p:spPr>
          <a:xfrm>
            <a:off x="2175867" y="6150432"/>
            <a:ext cx="6379077" cy="104042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096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Doenças se espalham com mais facilidade</a:t>
            </a:r>
          </a:p>
        </p:txBody>
      </p:sp>
      <p:sp>
        <p:nvSpPr>
          <p:cNvPr id="22" name="Texto: span"/>
          <p:cNvSpPr txBox="1"/>
          <p:nvPr/>
        </p:nvSpPr>
        <p:spPr>
          <a:xfrm>
            <a:off x="1456618" y="8243967"/>
            <a:ext cx="258738" cy="68614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5403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3</a:t>
            </a:r>
          </a:p>
        </p:txBody>
      </p:sp>
      <p:sp>
        <p:nvSpPr>
          <p:cNvPr id="23" name="Texto: it"/>
          <p:cNvSpPr txBox="1"/>
          <p:nvPr/>
        </p:nvSpPr>
        <p:spPr>
          <a:xfrm>
            <a:off x="2175867" y="7969410"/>
            <a:ext cx="6413382" cy="104042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096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Pode aumentar a demanda por atendimento e escolta</a:t>
            </a:r>
          </a:p>
        </p:txBody>
      </p:sp>
      <p:sp>
        <p:nvSpPr>
          <p:cNvPr id="24" name="Texto: span"/>
          <p:cNvSpPr txBox="1"/>
          <p:nvPr/>
        </p:nvSpPr>
        <p:spPr>
          <a:xfrm>
            <a:off x="1446624" y="9885839"/>
            <a:ext cx="278874" cy="68614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5403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4</a:t>
            </a:r>
          </a:p>
        </p:txBody>
      </p:sp>
      <p:sp>
        <p:nvSpPr>
          <p:cNvPr id="25" name="Texto: it"/>
          <p:cNvSpPr txBox="1"/>
          <p:nvPr/>
        </p:nvSpPr>
        <p:spPr>
          <a:xfrm>
            <a:off x="2175867" y="9871284"/>
            <a:ext cx="4746546" cy="52021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096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FFFFFF"/>
                </a:solidFill>
                <a:latin typeface="Barlow"/>
                <a:ea typeface="Barlow"/>
                <a:cs typeface="Barlow"/>
              </a:rPr>
              <a:t>A família assume o custo</a:t>
            </a:r>
          </a:p>
        </p:txBody>
      </p:sp>
      <p:sp>
        <p:nvSpPr>
          <p:cNvPr id="26" name="Texto: ponte"/>
          <p:cNvSpPr txBox="1"/>
          <p:nvPr/>
        </p:nvSpPr>
        <p:spPr>
          <a:xfrm>
            <a:off x="915442" y="11496457"/>
            <a:ext cx="4197132" cy="4377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4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E o que o projeto vai fazer?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rma"/>
          <p:cNvSpPr/>
          <p:nvPr/>
        </p:nvSpPr>
        <p:spPr>
          <a:xfrm>
            <a:off x="924967" y="4937373"/>
            <a:ext cx="8437066" cy="1594247"/>
          </a:xfrm>
          <a:prstGeom prst="roundRect">
            <a:avLst>
              <a:gd name="adj" fmla="val 12307"/>
            </a:avLst>
          </a:prstGeom>
          <a:solidFill>
            <a:srgbClr val="FFFFFF"/>
          </a:solidFill>
          <a:ln w="19050">
            <a:solidFill>
              <a:srgbClr val="DCE1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orma"/>
          <p:cNvSpPr/>
          <p:nvPr/>
        </p:nvSpPr>
        <p:spPr>
          <a:xfrm>
            <a:off x="1243012" y="5391448"/>
            <a:ext cx="686098" cy="686098"/>
          </a:xfrm>
          <a:prstGeom prst="ellipse">
            <a:avLst/>
          </a:prstGeom>
          <a:solidFill>
            <a:srgbClr val="B5121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orma"/>
          <p:cNvSpPr/>
          <p:nvPr/>
        </p:nvSpPr>
        <p:spPr>
          <a:xfrm>
            <a:off x="924967" y="6756350"/>
            <a:ext cx="8437066" cy="1594247"/>
          </a:xfrm>
          <a:prstGeom prst="roundRect">
            <a:avLst>
              <a:gd name="adj" fmla="val 12307"/>
            </a:avLst>
          </a:prstGeom>
          <a:solidFill>
            <a:srgbClr val="FFFFFF"/>
          </a:solidFill>
          <a:ln w="19050">
            <a:solidFill>
              <a:srgbClr val="DCE1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rma"/>
          <p:cNvSpPr/>
          <p:nvPr/>
        </p:nvSpPr>
        <p:spPr>
          <a:xfrm>
            <a:off x="1243012" y="7210425"/>
            <a:ext cx="686098" cy="686098"/>
          </a:xfrm>
          <a:prstGeom prst="ellipse">
            <a:avLst/>
          </a:prstGeom>
          <a:solidFill>
            <a:srgbClr val="B5121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orma"/>
          <p:cNvSpPr/>
          <p:nvPr/>
        </p:nvSpPr>
        <p:spPr>
          <a:xfrm>
            <a:off x="924967" y="8575328"/>
            <a:ext cx="8437066" cy="1594247"/>
          </a:xfrm>
          <a:prstGeom prst="roundRect">
            <a:avLst>
              <a:gd name="adj" fmla="val 12307"/>
            </a:avLst>
          </a:prstGeom>
          <a:solidFill>
            <a:srgbClr val="FFFFFF"/>
          </a:solidFill>
          <a:ln w="19050">
            <a:solidFill>
              <a:srgbClr val="DCE1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orma"/>
          <p:cNvSpPr/>
          <p:nvPr/>
        </p:nvSpPr>
        <p:spPr>
          <a:xfrm>
            <a:off x="1243012" y="9029402"/>
            <a:ext cx="686098" cy="686098"/>
          </a:xfrm>
          <a:prstGeom prst="ellipse">
            <a:avLst/>
          </a:prstGeom>
          <a:solidFill>
            <a:srgbClr val="B5121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eta" descr="Set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1196" y="11534180"/>
            <a:ext cx="380554" cy="380554"/>
          </a:xfrm>
          <a:prstGeom prst="rect">
            <a:avLst/>
          </a:prstGeom>
        </p:spPr>
      </p:pic>
      <p:sp>
        <p:nvSpPr>
          <p:cNvPr id="9" name="Forma"/>
          <p:cNvSpPr/>
          <p:nvPr/>
        </p:nvSpPr>
        <p:spPr>
          <a:xfrm>
            <a:off x="8074223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orma"/>
          <p:cNvSpPr/>
          <p:nvPr/>
        </p:nvSpPr>
        <p:spPr>
          <a:xfrm>
            <a:off x="8303419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orma"/>
          <p:cNvSpPr/>
          <p:nvPr/>
        </p:nvSpPr>
        <p:spPr>
          <a:xfrm>
            <a:off x="8532614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orma: on"/>
          <p:cNvSpPr/>
          <p:nvPr/>
        </p:nvSpPr>
        <p:spPr>
          <a:xfrm>
            <a:off x="8761809" y="11809661"/>
            <a:ext cx="380554" cy="133648"/>
          </a:xfrm>
          <a:prstGeom prst="roundRect">
            <a:avLst>
              <a:gd name="adj" fmla="val 50000"/>
            </a:avLst>
          </a:prstGeom>
          <a:solidFill>
            <a:srgbClr val="1B3A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orma"/>
          <p:cNvSpPr/>
          <p:nvPr/>
        </p:nvSpPr>
        <p:spPr>
          <a:xfrm>
            <a:off x="9237911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o: tag"/>
          <p:cNvSpPr txBox="1"/>
          <p:nvPr/>
        </p:nvSpPr>
        <p:spPr>
          <a:xfrm>
            <a:off x="915442" y="1018941"/>
            <a:ext cx="2755657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B5121B"/>
                </a:solidFill>
                <a:latin typeface="Barlow"/>
                <a:ea typeface="Barlow"/>
                <a:cs typeface="Barlow"/>
              </a:rPr>
              <a:t>O que vamos fazer</a:t>
            </a:r>
          </a:p>
        </p:txBody>
      </p:sp>
      <p:sp>
        <p:nvSpPr>
          <p:cNvPr id="15" name="Texto: h2"/>
          <p:cNvSpPr txBox="1"/>
          <p:nvPr/>
        </p:nvSpPr>
        <p:spPr>
          <a:xfrm>
            <a:off x="915442" y="2585099"/>
            <a:ext cx="7134924" cy="186704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7351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Estudar, informar e</a:t>
            </a:r>
            <a:br/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conhecer de perto.</a:t>
            </a:r>
          </a:p>
        </p:txBody>
      </p:sp>
      <p:sp>
        <p:nvSpPr>
          <p:cNvPr id="16" name="Texto: span"/>
          <p:cNvSpPr txBox="1"/>
          <p:nvPr/>
        </p:nvSpPr>
        <p:spPr>
          <a:xfrm>
            <a:off x="1488378" y="5515501"/>
            <a:ext cx="195218" cy="68614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5403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1</a:t>
            </a:r>
          </a:p>
        </p:txBody>
      </p:sp>
      <p:sp>
        <p:nvSpPr>
          <p:cNvPr id="17" name="Texto: it"/>
          <p:cNvSpPr txBox="1"/>
          <p:nvPr/>
        </p:nvSpPr>
        <p:spPr>
          <a:xfrm>
            <a:off x="2175867" y="5240944"/>
            <a:ext cx="6617872" cy="104042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096"/>
              </a:lnSpc>
              <a:spcBef>
                <a:spcPts val="0"/>
              </a:spcBef>
              <a:spcAft>
                <a:spcPts val="0"/>
              </a:spcAft>
            </a:pPr>
            <a:r>
              <a:rPr b="1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Estudar</a:t>
            </a: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 a realidade das unidades prisionais de Maringá</a:t>
            </a:r>
          </a:p>
        </p:txBody>
      </p:sp>
      <p:sp>
        <p:nvSpPr>
          <p:cNvPr id="18" name="Texto: span"/>
          <p:cNvSpPr txBox="1"/>
          <p:nvPr/>
        </p:nvSpPr>
        <p:spPr>
          <a:xfrm>
            <a:off x="1456283" y="7334479"/>
            <a:ext cx="259556" cy="68614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5403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2</a:t>
            </a:r>
          </a:p>
        </p:txBody>
      </p:sp>
      <p:sp>
        <p:nvSpPr>
          <p:cNvPr id="19" name="Texto: it"/>
          <p:cNvSpPr txBox="1"/>
          <p:nvPr/>
        </p:nvSpPr>
        <p:spPr>
          <a:xfrm>
            <a:off x="2175867" y="7059921"/>
            <a:ext cx="6991282" cy="104042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096"/>
              </a:lnSpc>
              <a:spcBef>
                <a:spcPts val="0"/>
              </a:spcBef>
              <a:spcAft>
                <a:spcPts val="0"/>
              </a:spcAft>
            </a:pPr>
            <a:r>
              <a:rPr b="1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Informar</a:t>
            </a: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 aqui no perfil, sem estigma e com fonte</a:t>
            </a:r>
          </a:p>
        </p:txBody>
      </p:sp>
      <p:sp>
        <p:nvSpPr>
          <p:cNvPr id="20" name="Texto: span"/>
          <p:cNvSpPr txBox="1"/>
          <p:nvPr/>
        </p:nvSpPr>
        <p:spPr>
          <a:xfrm>
            <a:off x="1456618" y="9153456"/>
            <a:ext cx="258738" cy="68614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5403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3</a:t>
            </a:r>
          </a:p>
        </p:txBody>
      </p:sp>
      <p:sp>
        <p:nvSpPr>
          <p:cNvPr id="21" name="Texto: it"/>
          <p:cNvSpPr txBox="1"/>
          <p:nvPr/>
        </p:nvSpPr>
        <p:spPr>
          <a:xfrm>
            <a:off x="2175867" y="8878898"/>
            <a:ext cx="6684621" cy="104042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096"/>
              </a:lnSpc>
              <a:spcBef>
                <a:spcPts val="0"/>
              </a:spcBef>
              <a:spcAft>
                <a:spcPts val="0"/>
              </a:spcAft>
            </a:pPr>
            <a:r>
              <a:rPr b="1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Conhecer de perto</a:t>
            </a: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, com visitas técnicas às três unidades de Maringá</a:t>
            </a:r>
          </a:p>
        </p:txBody>
      </p:sp>
      <p:sp>
        <p:nvSpPr>
          <p:cNvPr id="22" name="Texto: ponte"/>
          <p:cNvSpPr txBox="1"/>
          <p:nvPr/>
        </p:nvSpPr>
        <p:spPr>
          <a:xfrm>
            <a:off x="915442" y="11496457"/>
            <a:ext cx="1849517" cy="4377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4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Último slide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8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elo do projeto" descr="Selo do projeto Efeito Rebot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8530" y="3123158"/>
            <a:ext cx="1429792" cy="1429792"/>
          </a:xfrm>
          <a:prstGeom prst="rect">
            <a:avLst/>
          </a:prstGeom>
        </p:spPr>
      </p:pic>
      <p:sp>
        <p:nvSpPr>
          <p:cNvPr id="3" name="Forma: cta"/>
          <p:cNvSpPr/>
          <p:nvPr/>
        </p:nvSpPr>
        <p:spPr>
          <a:xfrm>
            <a:off x="2365772" y="8799463"/>
            <a:ext cx="5555307" cy="1069777"/>
          </a:xfrm>
          <a:prstGeom prst="roundRect">
            <a:avLst>
              <a:gd name="adj" fmla="val 50000"/>
            </a:avLst>
          </a:prstGeom>
          <a:solidFill>
            <a:srgbClr val="E9C4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o: tag"/>
          <p:cNvSpPr txBox="1"/>
          <p:nvPr/>
        </p:nvSpPr>
        <p:spPr>
          <a:xfrm>
            <a:off x="2839477" y="4903206"/>
            <a:ext cx="4608046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E9C46A"/>
                </a:solidFill>
                <a:latin typeface="Barlow"/>
                <a:ea typeface="Barlow"/>
                <a:cs typeface="Barlow"/>
              </a:rPr>
              <a:t>Dignidade também é eficiência</a:t>
            </a:r>
          </a:p>
        </p:txBody>
      </p:sp>
      <p:sp>
        <p:nvSpPr>
          <p:cNvPr id="5" name="Texto: h2"/>
          <p:cNvSpPr txBox="1"/>
          <p:nvPr/>
        </p:nvSpPr>
        <p:spPr>
          <a:xfrm>
            <a:off x="749379" y="5523264"/>
            <a:ext cx="8788241" cy="280057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7351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500" lang="pt-BR" spc="-113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Acompanhe e entenda</a:t>
            </a:r>
            <a:br/>
            <a:r>
              <a:rPr b="1" i="0" sz="7500" lang="pt-BR" spc="-113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por que o básico</a:t>
            </a:r>
            <a:br/>
            <a:r>
              <a:rPr b="1" i="0" sz="7500" lang="pt-BR" spc="-113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importa para todos nós.</a:t>
            </a:r>
          </a:p>
        </p:txBody>
      </p:sp>
      <p:sp>
        <p:nvSpPr>
          <p:cNvPr id="6" name="Texto: cta"/>
          <p:cNvSpPr txBox="1"/>
          <p:nvPr/>
        </p:nvSpPr>
        <p:spPr>
          <a:xfrm>
            <a:off x="2531872" y="9038830"/>
            <a:ext cx="5223108" cy="4937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388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3888" lang="pt-BR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Siga @efeitorebote.oficial</a:t>
            </a:r>
          </a:p>
        </p:txBody>
      </p:sp>
      <p:pic>
        <p:nvPicPr>
          <p:cNvPr id="7" name="Seta de rebote" descr="Seta de rebote, marca do projet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6071" y="853678"/>
            <a:ext cx="5904607" cy="590460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Efeito Rebo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Barlow Condensed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Barlow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Efeito Rebote — Sex 09/10: Efeito Rebote</dc:title>
  <dc:subject>Kit da Comunicação</dc:subject>
  <dc:creator>Efeito Rebote · Comunicação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dc:language>pt-BR</dc:language>
</cp:coreProperties>
</file>