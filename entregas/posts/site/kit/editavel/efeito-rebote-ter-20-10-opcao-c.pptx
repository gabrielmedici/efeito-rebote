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C · Lei × prática em Maringá · </a:t>
            </a:r>
          </a:p>
          <a:p>
            <a:r>
              <a:t>3 itens básicos faltavam numa penitenciária de Maringá.</a:t>
            </a:r>
          </a:p>
          <a:p/>
          <a:p>
            <a:r>
              <a:t>LEGENDA PRONTA</a:t>
            </a:r>
          </a:p>
          <a:p>
            <a:r>
              <a:t>Pasta de dente, aparelho de barbear e escova faltavam na Penitenciária Estadual de Maringá no dia da inspeção da Defensoria Pública do Paraná, em maio de 2025.</a:t>
            </a:r>
          </a:p>
          <a:p/>
          <a:p>
            <a:r>
              <a:t>A Lei de Execução Penal fala em instalações higiênicas (art. 12) e atendimento odontológico (art. 14). Em 2023, o STF reconheceu um cenário de violação massiva de direitos nas prisões, entre eles o direito à higiene (ADPF 347). Na Colônia Penal Industrial, a direção relatou que o kit não tem chegado completo, e o Conselho da Comunidade e as famílias cobrem parte.</a:t>
            </a:r>
          </a:p>
          <a:p/>
          <a:p>
            <a:r>
              <a:t>Na quinta, os bastidores da triagem. Siga o perfil.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031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3154178"/>
            <a:ext cx="186474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Lei × prática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3694422"/>
            <a:ext cx="7308294" cy="4919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 itens básicos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faltavam numa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penitenciária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de Maringá.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9113898"/>
            <a:ext cx="5550551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O que diz a lei, o que diz o STF e o que a Defensoria encontrou.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10485488"/>
            <a:ext cx="4453994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BBC4DD"/>
                </a:solidFill>
                <a:latin typeface="Barlow"/>
                <a:ea typeface="Barlow"/>
                <a:cs typeface="Barlow"/>
              </a:rPr>
              <a:t>Defensoria Pública do PR, 13/05/2025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5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5316587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567" y="11534031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074223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204891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que a lei diz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2964313"/>
            <a:ext cx="845197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 lei fala em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instalações higiênicas.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5742792"/>
            <a:ext cx="7869144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Art. 12.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A assistência material ao preso e ao internado consistirá no fornecimento de alimentação, vestuário e instalações higiênicas.</a:t>
            </a:r>
          </a:p>
        </p:txBody>
      </p:sp>
      <p:sp>
        <p:nvSpPr>
          <p:cNvPr id="13" name="Texto: p"/>
          <p:cNvSpPr txBox="1"/>
          <p:nvPr/>
        </p:nvSpPr>
        <p:spPr>
          <a:xfrm>
            <a:off x="915442" y="8731558"/>
            <a:ext cx="8441612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Escova de dente não aparece na lista. O art. 14 inclui atendimento odontológico.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2866326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STF, o que diz?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059388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339" y="11534031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68466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Supremo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2773664"/>
            <a:ext cx="7948077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STF reconheceu um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cenário de violação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massiva de direitos.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485593"/>
            <a:ext cx="7492535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“[...] são negados aos presos, por exemplo, os direitos à integridade física, alimentação,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higiene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, saúde, estudo e trabalho.”</a:t>
            </a:r>
          </a:p>
        </p:txBody>
      </p:sp>
      <p:sp>
        <p:nvSpPr>
          <p:cNvPr id="13" name="Texto: p"/>
          <p:cNvSpPr txBox="1"/>
          <p:nvPr/>
        </p:nvSpPr>
        <p:spPr>
          <a:xfrm>
            <a:off x="915442" y="9474360"/>
            <a:ext cx="6519535" cy="5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ADPF 347, julgada em 04/10/2023.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2276475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em Maringá?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5592663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491" y="11534031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78501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Em Maringá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240389"/>
            <a:ext cx="8654162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Nas inspeções de 2025,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faltaram itens básicos.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018868"/>
            <a:ext cx="7073807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Penitenciária Estadual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(13/05/2025): faltavam pasta de dente, aparelho de barbear e escova.</a:t>
            </a:r>
          </a:p>
        </p:txBody>
      </p:sp>
      <p:sp>
        <p:nvSpPr>
          <p:cNvPr id="13" name="Texto: p"/>
          <p:cNvSpPr txBox="1"/>
          <p:nvPr/>
        </p:nvSpPr>
        <p:spPr>
          <a:xfrm>
            <a:off x="915442" y="8455482"/>
            <a:ext cx="8557772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Na Colônia Penal Industrial, a direção relatou que o kit de higiene não tem chegado completo.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4399642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quando falta, quem cobre?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5374481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82855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7193459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7470428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fim"/>
          <p:cNvSpPr/>
          <p:nvPr/>
        </p:nvSpPr>
        <p:spPr>
          <a:xfrm>
            <a:off x="924967" y="8658225"/>
            <a:ext cx="8437066" cy="1074093"/>
          </a:xfrm>
          <a:prstGeom prst="roundRect">
            <a:avLst>
              <a:gd name="adj" fmla="val 18267"/>
            </a:avLst>
          </a:prstGeom>
          <a:solidFill>
            <a:srgbClr val="1B3A8C"/>
          </a:solidFill>
          <a:ln w="19050">
            <a:solidFill>
              <a:srgbClr val="1B3A8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031"/>
            <a:ext cx="380554" cy="380554"/>
          </a:xfrm>
          <a:prstGeom prst="rect">
            <a:avLst/>
          </a:prstGeom>
        </p:spPr>
      </p:pic>
      <p:sp>
        <p:nvSpPr>
          <p:cNvPr id="8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o: tag"/>
          <p:cNvSpPr txBox="1"/>
          <p:nvPr/>
        </p:nvSpPr>
        <p:spPr>
          <a:xfrm>
            <a:off x="915442" y="1018941"/>
            <a:ext cx="281819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Quem cobre a falta</a:t>
            </a:r>
          </a:p>
        </p:txBody>
      </p:sp>
      <p:sp>
        <p:nvSpPr>
          <p:cNvPr id="15" name="Texto: h2"/>
          <p:cNvSpPr txBox="1"/>
          <p:nvPr/>
        </p:nvSpPr>
        <p:spPr>
          <a:xfrm>
            <a:off x="915442" y="3022207"/>
            <a:ext cx="735397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Quando o item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falta, alguém cobre.</a:t>
            </a:r>
          </a:p>
        </p:txBody>
      </p:sp>
      <p:sp>
        <p:nvSpPr>
          <p:cNvPr id="16" name="Texto: span"/>
          <p:cNvSpPr txBox="1"/>
          <p:nvPr/>
        </p:nvSpPr>
        <p:spPr>
          <a:xfrm>
            <a:off x="1488378" y="5952609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7" name="Texto: it"/>
          <p:cNvSpPr txBox="1"/>
          <p:nvPr/>
        </p:nvSpPr>
        <p:spPr>
          <a:xfrm>
            <a:off x="2175867" y="5678052"/>
            <a:ext cx="7153058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 Conselho da Comunidade repõe parte dos itens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56283" y="7594481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19" name="Texto: it"/>
          <p:cNvSpPr txBox="1"/>
          <p:nvPr/>
        </p:nvSpPr>
        <p:spPr>
          <a:xfrm>
            <a:off x="2175867" y="7579926"/>
            <a:ext cx="6756261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Famílias compram e levam na visita</a:t>
            </a:r>
          </a:p>
        </p:txBody>
      </p:sp>
      <p:sp>
        <p:nvSpPr>
          <p:cNvPr id="20" name="Texto: fim"/>
          <p:cNvSpPr txBox="1"/>
          <p:nvPr/>
        </p:nvSpPr>
        <p:spPr>
          <a:xfrm>
            <a:off x="1243012" y="8961796"/>
            <a:ext cx="8606686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FFFFFF"/>
                </a:solidFill>
                <a:latin typeface="Barlow"/>
                <a:ea typeface="Barlow"/>
                <a:cs typeface="Barlow"/>
              </a:rPr>
              <a:t>O custo do básico passa para quem está fora.</a:t>
            </a:r>
          </a:p>
        </p:txBody>
      </p:sp>
      <p:sp>
        <p:nvSpPr>
          <p:cNvPr id="21" name="Texto: ponte"/>
          <p:cNvSpPr txBox="1"/>
          <p:nvPr/>
        </p:nvSpPr>
        <p:spPr>
          <a:xfrm>
            <a:off x="915442" y="11496308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03906" y="5369931"/>
            <a:ext cx="147903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quinta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810717" y="5989989"/>
            <a:ext cx="6665565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Os bastidores da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triagem dos itens.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Ter 20/10: 3 itens básicos faltavam numa penitenciária de Maringá.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