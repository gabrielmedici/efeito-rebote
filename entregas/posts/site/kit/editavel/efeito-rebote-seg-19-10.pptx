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Série Entenda o projeto · parte 4</a:t>
            </a:r>
          </a:p>
          <a:p>
            <a:r>
              <a:t>Quem paga a conta quando falta o básico?</a:t>
            </a:r>
          </a:p>
          <a:p/>
          <a:p>
            <a:r>
              <a:t>LEGENDA PRONTA</a:t>
            </a:r>
          </a:p>
          <a:p>
            <a:r>
              <a:t>Quando o kit de higiene não chega completo, alguém compra o que falta.</a:t>
            </a:r>
          </a:p>
          <a:p/>
          <a:p>
            <a:r>
              <a:t>Nas inspeções da Defensoria Pública do Paraná em 2025, a direção da Colônia Penal Industrial de Maringá relatou que o kit não tem chegado completo, e o Conselho da Comunidade e as famílias cobrem parte dos itens. Uma pesquisa de Minas Gerais, publicada na PLOS ONE em 2025, descreve algo parecido: a população presa depende de instituições religiosas ou de familiares para ter escova e pasta.</a:t>
            </a:r>
          </a:p>
          <a:p/>
          <a:p>
            <a:r>
              <a:t>Isso pesa porque uma revisão de 144 estudos brasileiros, do Instituto Igarapé, associa a falta de apoio da família a mais chances de voltar à prisão. É uma associação, e não uma garantia.</a:t>
            </a:r>
          </a:p>
          <a:p/>
          <a:p>
            <a:r>
              <a:t>Por isso o projeto prevê um café da manhã com as famílias, com atenção especial às crianças.</a:t>
            </a:r>
          </a:p>
          <a:p/>
          <a:p>
            <a:r>
              <a:t>Na quarta, conheça a turma. Siga o perfil.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031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4365490"/>
            <a:ext cx="479484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Série Entenda o projeto · parte 4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905735"/>
            <a:ext cx="7172905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Quem paga a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conta quando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falta o básico?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9095294"/>
            <a:ext cx="440635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Muitas vezes, a família.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49630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4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481920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09617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283970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560939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7748736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802570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: fim"/>
          <p:cNvSpPr/>
          <p:nvPr/>
        </p:nvSpPr>
        <p:spPr>
          <a:xfrm>
            <a:off x="924967" y="9213503"/>
            <a:ext cx="8437066" cy="1074093"/>
          </a:xfrm>
          <a:prstGeom prst="roundRect">
            <a:avLst>
              <a:gd name="adj" fmla="val 1826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859" y="11534031"/>
            <a:ext cx="380554" cy="380554"/>
          </a:xfrm>
          <a:prstGeom prst="rect">
            <a:avLst/>
          </a:prstGeom>
        </p:spPr>
      </p:pic>
      <p:sp>
        <p:nvSpPr>
          <p:cNvPr id="10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: on"/>
          <p:cNvSpPr/>
          <p:nvPr/>
        </p:nvSpPr>
        <p:spPr>
          <a:xfrm>
            <a:off x="8074223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"/>
          <p:cNvSpPr/>
          <p:nvPr/>
        </p:nvSpPr>
        <p:spPr>
          <a:xfrm>
            <a:off x="855032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o: tag"/>
          <p:cNvSpPr txBox="1"/>
          <p:nvPr/>
        </p:nvSpPr>
        <p:spPr>
          <a:xfrm>
            <a:off x="915442" y="1018941"/>
            <a:ext cx="295538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caminho da conta</a:t>
            </a:r>
          </a:p>
        </p:txBody>
      </p:sp>
      <p:sp>
        <p:nvSpPr>
          <p:cNvPr id="17" name="Texto: h2"/>
          <p:cNvSpPr txBox="1"/>
          <p:nvPr/>
        </p:nvSpPr>
        <p:spPr>
          <a:xfrm>
            <a:off x="915442" y="2466929"/>
            <a:ext cx="7129686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Do kit incompleto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ao bolso da família.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88378" y="5220226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5205671"/>
            <a:ext cx="6902455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 kit de higiene não chega completo</a:t>
            </a:r>
          </a:p>
        </p:txBody>
      </p:sp>
      <p:sp>
        <p:nvSpPr>
          <p:cNvPr id="20" name="Texto: span"/>
          <p:cNvSpPr txBox="1"/>
          <p:nvPr/>
        </p:nvSpPr>
        <p:spPr>
          <a:xfrm>
            <a:off x="1456283" y="6684993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1" name="Texto: li"/>
          <p:cNvSpPr txBox="1"/>
          <p:nvPr/>
        </p:nvSpPr>
        <p:spPr>
          <a:xfrm>
            <a:off x="2175867" y="6670438"/>
            <a:ext cx="4823653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família compra os itens</a:t>
            </a:r>
          </a:p>
        </p:txBody>
      </p:sp>
      <p:sp>
        <p:nvSpPr>
          <p:cNvPr id="22" name="Texto: span"/>
          <p:cNvSpPr txBox="1"/>
          <p:nvPr/>
        </p:nvSpPr>
        <p:spPr>
          <a:xfrm>
            <a:off x="1456618" y="8149759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3" name="Texto: li"/>
          <p:cNvSpPr txBox="1"/>
          <p:nvPr/>
        </p:nvSpPr>
        <p:spPr>
          <a:xfrm>
            <a:off x="2175867" y="8135204"/>
            <a:ext cx="408826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 leva no dia da visita</a:t>
            </a:r>
          </a:p>
        </p:txBody>
      </p:sp>
      <p:sp>
        <p:nvSpPr>
          <p:cNvPr id="24" name="Texto: fim"/>
          <p:cNvSpPr txBox="1"/>
          <p:nvPr/>
        </p:nvSpPr>
        <p:spPr>
          <a:xfrm>
            <a:off x="1243012" y="9517073"/>
            <a:ext cx="8606686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O custo do básico passa para quem está fora.</a:t>
            </a:r>
          </a:p>
        </p:txBody>
      </p:sp>
      <p:sp>
        <p:nvSpPr>
          <p:cNvPr id="25" name="Texto: ponte"/>
          <p:cNvSpPr txBox="1"/>
          <p:nvPr/>
        </p:nvSpPr>
        <p:spPr>
          <a:xfrm>
            <a:off x="915442" y="11496308"/>
            <a:ext cx="355194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Isso acontece só aqui?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592663"/>
            <a:ext cx="8437066" cy="2988766"/>
          </a:xfrm>
          <a:prstGeom prst="roundRect">
            <a:avLst>
              <a:gd name="adj" fmla="val 6565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253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228187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Outra pesquisa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3240389"/>
            <a:ext cx="8173343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Uma pesquisa mineira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aponta algo parecido.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018868"/>
            <a:ext cx="7341549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Artigo da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PLOS ONE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(2025): a oferta de itens de higiene bucal é insuficiente, e a população presa depende de instituições religiosas ou de familiares.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9007635"/>
            <a:ext cx="7041446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É um recorte, e não o retrato do país.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408368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Por que a família importa?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316587"/>
            <a:ext cx="8437066" cy="2988766"/>
          </a:xfrm>
          <a:prstGeom prst="roundRect">
            <a:avLst>
              <a:gd name="adj" fmla="val 6565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410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: on"/>
          <p:cNvSpPr/>
          <p:nvPr/>
        </p:nvSpPr>
        <p:spPr>
          <a:xfrm>
            <a:off x="8532614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140209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vínculo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2964313"/>
            <a:ext cx="745236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 família é um apoio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importante na volta.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5742792"/>
            <a:ext cx="7759458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Uma revisão de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144 estudos brasileiros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(Instituto Igarapé, 2022) associa a falta de apoio da família a mais chances de voltar à prisão.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8731558"/>
            <a:ext cx="7755514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É uma associação observada, e não uma garantia.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3943052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O que o projeto vai fazer?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18941"/>
            <a:ext cx="275565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que vamos fazer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4849221"/>
            <a:ext cx="7537326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Acolher quem visita.</a:t>
            </a:r>
          </a:p>
        </p:txBody>
      </p:sp>
      <p:sp>
        <p:nvSpPr>
          <p:cNvPr id="11" name="Texto: p"/>
          <p:cNvSpPr txBox="1"/>
          <p:nvPr/>
        </p:nvSpPr>
        <p:spPr>
          <a:xfrm>
            <a:off x="915442" y="6294647"/>
            <a:ext cx="7975259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 projeto prevê um café da manhã com as famílias, em dia de visitação, com atenção especial às crianças.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496457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082260" y="5369931"/>
            <a:ext cx="412248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Na quarta, conheça a turma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640949" y="5989989"/>
            <a:ext cx="7005102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Quem está por trás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do Efeito Rebote.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57210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Seg 19/10: Quem paga a conta quando falta o básico?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