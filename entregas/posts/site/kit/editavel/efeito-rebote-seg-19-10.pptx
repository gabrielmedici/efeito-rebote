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4</a:t>
            </a:r>
          </a:p>
          <a:p>
            <a:r>
              <a:t>Quem paga a conta quando falta o básico?</a:t>
            </a:r>
          </a:p>
          <a:p/>
          <a:p>
            <a:r>
              <a:t>LEGENDA PRONTA</a:t>
            </a:r>
          </a:p>
          <a:p>
            <a:r>
              <a:t>Quando o kit de higiene não chega completo, alguém compra o que falta.</a:t>
            </a:r>
          </a:p>
          <a:p/>
          <a:p>
            <a:r>
              <a:t>Nas inspeções da Defensoria Pública do Paraná em 2025, a direção da Colônia Penal Industrial de Maringá relatou que o kit não tem chegado completo, e o Conselho da Comunidade e as famílias cobrem parte dos itens. Uma pesquisa de Minas Gerais, publicada na PLOS ONE em 2025, descreve algo parecido: a população presa depende de instituições religiosas ou de familiares para ter escova e pasta.</a:t>
            </a:r>
          </a:p>
          <a:p/>
          <a:p>
            <a:r>
              <a:t>Isso pesa porque uma revisão de 144 estudos brasileiros, do Instituto Igarapé, associa a falta de apoio da família a mais chances de voltar à prisão. É uma associação, e não uma garantia.</a:t>
            </a:r>
          </a:p>
          <a:p/>
          <a:p>
            <a:r>
              <a:t>Por isso o projeto prevê um café da manhã com as famílias, com atenção especial às crianças.</a:t>
            </a:r>
          </a:p>
          <a:p/>
          <a:p>
            <a:r>
              <a:t>Na quarta, conheça a turma.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426389"/>
            <a:ext cx="47948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Série Entenda o projeto · parte 4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5181836"/>
            <a:ext cx="7172905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paga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conta quando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falta o básico?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9055278"/>
            <a:ext cx="440635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Muitas vezes, a família.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515339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4819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096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6283970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6560939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7748736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802570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fim"/>
          <p:cNvSpPr/>
          <p:nvPr/>
        </p:nvSpPr>
        <p:spPr>
          <a:xfrm>
            <a:off x="924967" y="9213503"/>
            <a:ext cx="8437066" cy="1074093"/>
          </a:xfrm>
          <a:prstGeom prst="roundRect">
            <a:avLst>
              <a:gd name="adj" fmla="val 1826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859" y="11534031"/>
            <a:ext cx="380554" cy="380554"/>
          </a:xfrm>
          <a:prstGeom prst="rect">
            <a:avLst/>
          </a:prstGeom>
        </p:spPr>
      </p:pic>
      <p:sp>
        <p:nvSpPr>
          <p:cNvPr id="10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o: tag"/>
          <p:cNvSpPr txBox="1"/>
          <p:nvPr/>
        </p:nvSpPr>
        <p:spPr>
          <a:xfrm>
            <a:off x="915442" y="1079840"/>
            <a:ext cx="295538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caminho da conta</a:t>
            </a:r>
          </a:p>
        </p:txBody>
      </p:sp>
      <p:sp>
        <p:nvSpPr>
          <p:cNvPr id="17" name="Texto: h2"/>
          <p:cNvSpPr txBox="1"/>
          <p:nvPr/>
        </p:nvSpPr>
        <p:spPr>
          <a:xfrm>
            <a:off x="915442" y="2676496"/>
            <a:ext cx="712968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Do kit incompleto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ao bolso da família.</a:t>
            </a:r>
          </a:p>
        </p:txBody>
      </p:sp>
      <p:sp>
        <p:nvSpPr>
          <p:cNvPr id="18" name="Texto: span"/>
          <p:cNvSpPr txBox="1"/>
          <p:nvPr/>
        </p:nvSpPr>
        <p:spPr>
          <a:xfrm>
            <a:off x="1488378" y="499082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9" name="Texto: li"/>
          <p:cNvSpPr txBox="1"/>
          <p:nvPr/>
        </p:nvSpPr>
        <p:spPr>
          <a:xfrm>
            <a:off x="2175867" y="5165655"/>
            <a:ext cx="690245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kit de higiene não chega completo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56283" y="6455593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1" name="Texto: li"/>
          <p:cNvSpPr txBox="1"/>
          <p:nvPr/>
        </p:nvSpPr>
        <p:spPr>
          <a:xfrm>
            <a:off x="2175867" y="6630421"/>
            <a:ext cx="482365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família compra os itens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618" y="7920359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3" name="Texto: li"/>
          <p:cNvSpPr txBox="1"/>
          <p:nvPr/>
        </p:nvSpPr>
        <p:spPr>
          <a:xfrm>
            <a:off x="2175867" y="8095188"/>
            <a:ext cx="408826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 leva no dia da visita</a:t>
            </a:r>
          </a:p>
        </p:txBody>
      </p:sp>
      <p:sp>
        <p:nvSpPr>
          <p:cNvPr id="24" name="Texto: fim"/>
          <p:cNvSpPr txBox="1"/>
          <p:nvPr/>
        </p:nvSpPr>
        <p:spPr>
          <a:xfrm>
            <a:off x="1243012" y="9477057"/>
            <a:ext cx="860668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O custo do básico passa para quem está fora.</a:t>
            </a:r>
          </a:p>
        </p:txBody>
      </p:sp>
      <p:sp>
        <p:nvSpPr>
          <p:cNvPr id="25" name="Texto: ponte"/>
          <p:cNvSpPr txBox="1"/>
          <p:nvPr/>
        </p:nvSpPr>
        <p:spPr>
          <a:xfrm>
            <a:off x="915442" y="11515339"/>
            <a:ext cx="355194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Isso acontece só aqui?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592663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253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228187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Outra pesquisa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449956"/>
            <a:ext cx="817334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Uma pesquisa mineira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aponta algo parecido.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5946838"/>
            <a:ext cx="7341549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Artigo da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PLOS ONE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(2025): a oferta de itens de higiene bucal é insuficiente, e a população presa depende de instituições religiosas ou de familiares.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935605"/>
            <a:ext cx="7041446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um recorte, e não o retrato do país.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408368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Por que a família importa?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316587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10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140209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vínculo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173880"/>
            <a:ext cx="745236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família é um apoio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importante na volta.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5670762"/>
            <a:ext cx="7759458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Uma revisão de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144 estudos brasileiros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(Instituto Igarapé, 2022) associa a falta de apoio da família a mais chances de voltar à prisão.</a:t>
            </a:r>
          </a:p>
        </p:txBody>
      </p:sp>
      <p:sp>
        <p:nvSpPr>
          <p:cNvPr id="13" name="Texto: p"/>
          <p:cNvSpPr txBox="1"/>
          <p:nvPr/>
        </p:nvSpPr>
        <p:spPr>
          <a:xfrm>
            <a:off x="915442" y="8659528"/>
            <a:ext cx="7755514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uma associação observada, e não uma garantia.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394305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O que o projeto vai fazer?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79840"/>
            <a:ext cx="275565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que vamos fazer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5058788"/>
            <a:ext cx="7537326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Acolher quem visita.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222617"/>
            <a:ext cx="797525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projeto prevê um café da manhã com as famílias, em dia de visitação, com atenção especial às crianças.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51548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082260" y="5430830"/>
            <a:ext cx="412248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Na quarta, conheça a turma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640949" y="6199556"/>
            <a:ext cx="7005102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está por trás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do Efeito Rebote.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67086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19/10: Quem paga a conta quando falta o básico?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