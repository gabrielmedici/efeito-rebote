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Dado na capa: reincidência · </a:t>
            </a:r>
          </a:p>
          <a:p>
            <a:r>
              <a:t>Quase 1 em cada 4 volta a ser condenado.</a:t>
            </a:r>
          </a:p>
          <a:p/>
          <a:p>
            <a:r>
              <a:t>LEGENDA PRONTA</a:t>
            </a:r>
          </a:p>
          <a:p>
            <a:r>
              <a:t>24,4%. Esse foi o percentual de pessoas que voltaram a ser condenadas em até cinco anos, num estudo do Ipea para o CNJ em cinco estados, entre eles o Paraná.</a:t>
            </a:r>
          </a:p>
          <a:p/>
          <a:p>
            <a:r>
              <a:t>Somos cerca de 80 estudantes de Direito da UniCesumar, e esse número ajuda a explicar o nome do projeto. Quando falta o básico dentro do sistema prisional, o custo volta para fora, na saúde e no orçamento das famílias, e o ciclo pode recomeçar.</a:t>
            </a:r>
          </a:p>
          <a:p/>
          <a:p>
            <a:r>
              <a:t>Neste semestre, vamos estudar as unidades prisionais de Maringá e contar aqui o que encontrarmos, sempre com fonte.</a:t>
            </a:r>
          </a:p>
          <a:p/>
          <a:p>
            <a:r>
              <a:t>No domingo, o efeito rebote em 30 segundos.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509133"/>
            <a:ext cx="318572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Prazer, Efeito Rebote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049378"/>
            <a:ext cx="7483629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Quase 1 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cada 4 volta 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ser condenado.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238937"/>
            <a:ext cx="5470184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Somos estudantes de Direito e vamos explicar por que isso pesa também do lado de fora.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0130682"/>
            <a:ext cx="424542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Ipea para o CNJ, 2015, em 5 estados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726861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17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64471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conceito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049443"/>
            <a:ext cx="8402702" cy="37340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Reincidir é cometer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novo crime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depois de uma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condenação definitiva.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7694822"/>
            <a:ext cx="799430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o que diz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Penal, art. 63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. Nas pesquisas, a palavra às vezes ganha sentido mais amplo, e por isso os números mudam.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469645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quantas pessoas reincidem?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04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4813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número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2166310"/>
            <a:ext cx="7100709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24,4%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5396861"/>
            <a:ext cx="7632115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voltaram a ser condenados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até 5 anos.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310101"/>
            <a:ext cx="8475172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Estudo do Ipea para o CNJ em 5 estados, entre eles o Paraná. Pesquisas que contam quem volta à prisão, mesmo sem nova condenação, chegam a 36% a 42%.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881692"/>
            <a:ext cx="7231514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Ipea, 2015 (reincidência legal) · Depen/UFPE, 2022 (reentrada)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525699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de onde vem o nome do projeto?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58120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85817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704597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50004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volta"/>
          <p:cNvSpPr/>
          <p:nvPr/>
        </p:nvSpPr>
        <p:spPr>
          <a:xfrm>
            <a:off x="924967" y="886494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9319022"/>
            <a:ext cx="686098" cy="68609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12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18941"/>
            <a:ext cx="11753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nome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295479"/>
            <a:ext cx="7936453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falta o básico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lá dentro, o custo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 para fora.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98222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it"/>
          <p:cNvSpPr txBox="1"/>
          <p:nvPr/>
        </p:nvSpPr>
        <p:spPr>
          <a:xfrm>
            <a:off x="2175867" y="5967671"/>
            <a:ext cx="658862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Falta o básico na unidade prisional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624098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it"/>
          <p:cNvSpPr txBox="1"/>
          <p:nvPr/>
        </p:nvSpPr>
        <p:spPr>
          <a:xfrm>
            <a:off x="2175867" y="7349540"/>
            <a:ext cx="671788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Saúde e vínculos com a família se desgastam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944307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it"/>
          <p:cNvSpPr txBox="1"/>
          <p:nvPr/>
        </p:nvSpPr>
        <p:spPr>
          <a:xfrm>
            <a:off x="2175867" y="9168518"/>
            <a:ext cx="752937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A pessoa sai sem apoio, e o ciclo pode recomeçar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496457"/>
            <a:ext cx="301874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vem por aí?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Linha"/>
          <p:cNvCxnSpPr/>
          <p:nvPr/>
        </p:nvCxnSpPr>
        <p:spPr>
          <a:xfrm>
            <a:off x="915442" y="5920085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3" name="Linha"/>
          <p:cNvCxnSpPr/>
          <p:nvPr/>
        </p:nvCxnSpPr>
        <p:spPr>
          <a:xfrm>
            <a:off x="915442" y="7015311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4" name="Linha"/>
          <p:cNvCxnSpPr/>
          <p:nvPr/>
        </p:nvCxnSpPr>
        <p:spPr>
          <a:xfrm>
            <a:off x="915442" y="8110538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pic>
        <p:nvPicPr>
          <p:cNvPr id="5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031"/>
            <a:ext cx="380554" cy="380554"/>
          </a:xfrm>
          <a:prstGeom prst="rect">
            <a:avLst/>
          </a:prstGeom>
        </p:spPr>
      </p:pic>
      <p:sp>
        <p:nvSpPr>
          <p:cNvPr id="6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o: tag"/>
          <p:cNvSpPr txBox="1"/>
          <p:nvPr/>
        </p:nvSpPr>
        <p:spPr>
          <a:xfrm>
            <a:off x="915442" y="1018941"/>
            <a:ext cx="276924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Nos próximos dias</a:t>
            </a:r>
          </a:p>
        </p:txBody>
      </p:sp>
      <p:sp>
        <p:nvSpPr>
          <p:cNvPr id="13" name="Texto: h2"/>
          <p:cNvSpPr txBox="1"/>
          <p:nvPr/>
        </p:nvSpPr>
        <p:spPr>
          <a:xfrm>
            <a:off x="915442" y="3567811"/>
            <a:ext cx="665295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tema com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fonte a cada post.</a:t>
            </a:r>
          </a:p>
        </p:txBody>
      </p:sp>
      <p:sp>
        <p:nvSpPr>
          <p:cNvPr id="14" name="Texto: b"/>
          <p:cNvSpPr txBox="1"/>
          <p:nvPr/>
        </p:nvSpPr>
        <p:spPr>
          <a:xfrm>
            <a:off x="915442" y="6178494"/>
            <a:ext cx="1765533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Dom 11/10</a:t>
            </a:r>
          </a:p>
        </p:txBody>
      </p:sp>
      <p:sp>
        <p:nvSpPr>
          <p:cNvPr id="15" name="Texto: span"/>
          <p:cNvSpPr txBox="1"/>
          <p:nvPr/>
        </p:nvSpPr>
        <p:spPr>
          <a:xfrm>
            <a:off x="3008709" y="6234669"/>
            <a:ext cx="6069821" cy="5002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efeito rebote em 30 segundos</a:t>
            </a:r>
          </a:p>
        </p:txBody>
      </p:sp>
      <p:sp>
        <p:nvSpPr>
          <p:cNvPr id="16" name="Texto: b"/>
          <p:cNvSpPr txBox="1"/>
          <p:nvPr/>
        </p:nvSpPr>
        <p:spPr>
          <a:xfrm>
            <a:off x="915442" y="7273721"/>
            <a:ext cx="1633582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Ter 13/10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3008709" y="7329895"/>
            <a:ext cx="5297106" cy="5002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que a lei diz sobre higiene</a:t>
            </a:r>
          </a:p>
        </p:txBody>
      </p:sp>
      <p:sp>
        <p:nvSpPr>
          <p:cNvPr id="18" name="Texto: b"/>
          <p:cNvSpPr txBox="1"/>
          <p:nvPr/>
        </p:nvSpPr>
        <p:spPr>
          <a:xfrm>
            <a:off x="915442" y="8368947"/>
            <a:ext cx="1619503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Qui 15/10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3008709" y="8425121"/>
            <a:ext cx="6102891" cy="5002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Os 5 itens e por que existe regra</a:t>
            </a:r>
          </a:p>
        </p:txBody>
      </p:sp>
      <p:sp>
        <p:nvSpPr>
          <p:cNvPr id="20" name="Texto: ponte"/>
          <p:cNvSpPr txBox="1"/>
          <p:nvPr/>
        </p:nvSpPr>
        <p:spPr>
          <a:xfrm>
            <a:off x="915442" y="1149630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222671" y="5369931"/>
            <a:ext cx="184165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No domingo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025015" y="5989989"/>
            <a:ext cx="623697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efeito rebote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em 30 segundos.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Sex 09/10: Quase 1 em cada 4 volta a ser condenado.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