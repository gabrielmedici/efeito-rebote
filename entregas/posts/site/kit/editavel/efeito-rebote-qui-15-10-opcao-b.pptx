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Opção B · Item por item (um por slide) · </a:t>
            </a:r>
          </a:p>
          <a:p>
            <a:r>
              <a:t>Os 5 itens de higiene do Efeito Rebote, um por um.</a:t>
            </a:r>
          </a:p>
          <a:p/>
          <a:p>
            <a:r>
              <a:t>LEGENDA PRONTA</a:t>
            </a:r>
          </a:p>
          <a:p>
            <a:r>
              <a:t>Três destes cinco itens faltavam na Penitenciária Estadual de Maringá na inspeção da Defensoria Pública do Paraná, em maio de 2025.</a:t>
            </a:r>
          </a:p>
          <a:p/>
          <a:p>
            <a:r>
              <a:t>Neste carrossel, cada item aparece com a sua regra. Tamanho e embalagem seguem as regras de segurança das unidades, e um item fora do padrão pode não entrar. O sabão em pó entrou na lista porque a assistência material prevista na lei inclui vestuário, e roupa limpa depende dele.</a:t>
            </a:r>
          </a:p>
          <a:p/>
          <a:p>
            <a:r>
              <a:t>Salve para consultar depois. Na terça, o que a Defensoria encontrou nas três unidades de Maringá.</a:t>
            </a:r>
          </a:p>
          <a:p/>
          <a:p>
            <a:r>
              <a:t>#EfeitoRebote #SistemaPrisional #ExecuçãoPenal #DireitosHumanos #ExtensãoUniversitária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de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de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de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de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de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de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442" y="1049238"/>
            <a:ext cx="1429792" cy="1429792"/>
          </a:xfrm>
          <a:prstGeom prst="rect">
            <a:avLst/>
          </a:prstGeom>
        </p:spPr>
      </p:pic>
      <p:pic>
        <p:nvPicPr>
          <p:cNvPr id="3" name="Seta" descr="Se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468" y="11534180"/>
            <a:ext cx="380554" cy="380554"/>
          </a:xfrm>
          <a:prstGeom prst="rect">
            <a:avLst/>
          </a:prstGeom>
        </p:spPr>
      </p:pic>
      <p:sp>
        <p:nvSpPr>
          <p:cNvPr id="4" name="Forma: on"/>
          <p:cNvSpPr/>
          <p:nvPr/>
        </p:nvSpPr>
        <p:spPr>
          <a:xfrm>
            <a:off x="7615833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091934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321129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855032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o: tag"/>
          <p:cNvSpPr txBox="1"/>
          <p:nvPr/>
        </p:nvSpPr>
        <p:spPr>
          <a:xfrm>
            <a:off x="915442" y="4105488"/>
            <a:ext cx="1695956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Para salvar</a:t>
            </a:r>
          </a:p>
        </p:txBody>
      </p:sp>
      <p:sp>
        <p:nvSpPr>
          <p:cNvPr id="12" name="Texto: h1"/>
          <p:cNvSpPr txBox="1"/>
          <p:nvPr/>
        </p:nvSpPr>
        <p:spPr>
          <a:xfrm>
            <a:off x="915442" y="4645732"/>
            <a:ext cx="9371871" cy="36897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84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Os 5 itens de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higiene do Efeito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Rebote, um por um.</a:t>
            </a:r>
          </a:p>
        </p:txBody>
      </p:sp>
      <p:sp>
        <p:nvSpPr>
          <p:cNvPr id="13" name="Texto: lead"/>
          <p:cNvSpPr txBox="1"/>
          <p:nvPr/>
        </p:nvSpPr>
        <p:spPr>
          <a:xfrm>
            <a:off x="915442" y="8835292"/>
            <a:ext cx="5575703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E8EBF4"/>
                </a:solidFill>
                <a:latin typeface="Barlow"/>
                <a:ea typeface="Barlow"/>
                <a:cs typeface="Barlow"/>
              </a:rPr>
              <a:t>O que é, qual a regra e por que está na lista.</a:t>
            </a:r>
          </a:p>
        </p:txBody>
      </p:sp>
      <p:sp>
        <p:nvSpPr>
          <p:cNvPr id="14" name="Texto: ponte"/>
          <p:cNvSpPr txBox="1"/>
          <p:nvPr/>
        </p:nvSpPr>
        <p:spPr>
          <a:xfrm>
            <a:off x="915442" y="11496457"/>
            <a:ext cx="12107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E9C46A"/>
                </a:solidFill>
                <a:latin typeface="Barlow Condensed"/>
                <a:ea typeface="Barlow Condensed"/>
                <a:cs typeface="Barlow Condensed"/>
              </a:rPr>
              <a:t>Arraste</a:t>
            </a:r>
          </a:p>
        </p:txBody>
      </p:sp>
      <p:pic>
        <p:nvPicPr>
          <p:cNvPr id="15" name="Seta de rebote" descr="Seta de rebote, marca do proje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8595" y="11534180"/>
            <a:ext cx="380554" cy="380554"/>
          </a:xfrm>
          <a:prstGeom prst="rect">
            <a:avLst/>
          </a:prstGeom>
        </p:spPr>
      </p:pic>
      <p:sp>
        <p:nvSpPr>
          <p:cNvPr id="3" name="Forma"/>
          <p:cNvSpPr/>
          <p:nvPr/>
        </p:nvSpPr>
        <p:spPr>
          <a:xfrm>
            <a:off x="761583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: on"/>
          <p:cNvSpPr/>
          <p:nvPr/>
        </p:nvSpPr>
        <p:spPr>
          <a:xfrm>
            <a:off x="7845028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321129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55032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o: tag"/>
          <p:cNvSpPr txBox="1"/>
          <p:nvPr/>
        </p:nvSpPr>
        <p:spPr>
          <a:xfrm>
            <a:off x="915442" y="1018941"/>
            <a:ext cx="874127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1 de 5</a:t>
            </a:r>
          </a:p>
        </p:txBody>
      </p:sp>
      <p:sp>
        <p:nvSpPr>
          <p:cNvPr id="11" name="Texto: h2"/>
          <p:cNvSpPr txBox="1"/>
          <p:nvPr/>
        </p:nvSpPr>
        <p:spPr>
          <a:xfrm>
            <a:off x="915442" y="4849221"/>
            <a:ext cx="8190041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Escova dental simples</a:t>
            </a:r>
          </a:p>
        </p:txBody>
      </p:sp>
      <p:sp>
        <p:nvSpPr>
          <p:cNvPr id="12" name="Texto: p"/>
          <p:cNvSpPr txBox="1"/>
          <p:nvPr/>
        </p:nvSpPr>
        <p:spPr>
          <a:xfrm>
            <a:off x="915442" y="6294647"/>
            <a:ext cx="8904914" cy="16566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Faltou na Penitenciária Estadual e na Casa de Custódia de Maringá nas inspeções de 2025. A lei prevê atendimento odontológico (LEP, art. 14).</a:t>
            </a:r>
          </a:p>
        </p:txBody>
      </p:sp>
      <p:sp>
        <p:nvSpPr>
          <p:cNvPr id="13" name="Texto: ponte"/>
          <p:cNvSpPr txBox="1"/>
          <p:nvPr/>
        </p:nvSpPr>
        <p:spPr>
          <a:xfrm>
            <a:off x="915442" y="11496457"/>
            <a:ext cx="2792656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o creme dental?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2823" y="11534180"/>
            <a:ext cx="380554" cy="380554"/>
          </a:xfrm>
          <a:prstGeom prst="rect">
            <a:avLst/>
          </a:prstGeom>
        </p:spPr>
      </p:pic>
      <p:sp>
        <p:nvSpPr>
          <p:cNvPr id="3" name="Forma"/>
          <p:cNvSpPr/>
          <p:nvPr/>
        </p:nvSpPr>
        <p:spPr>
          <a:xfrm>
            <a:off x="761583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7845028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: on"/>
          <p:cNvSpPr/>
          <p:nvPr/>
        </p:nvSpPr>
        <p:spPr>
          <a:xfrm>
            <a:off x="8074223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55032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o: tag"/>
          <p:cNvSpPr txBox="1"/>
          <p:nvPr/>
        </p:nvSpPr>
        <p:spPr>
          <a:xfrm>
            <a:off x="915442" y="1018941"/>
            <a:ext cx="940430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2 de 5</a:t>
            </a:r>
          </a:p>
        </p:txBody>
      </p:sp>
      <p:sp>
        <p:nvSpPr>
          <p:cNvPr id="11" name="Texto: h2"/>
          <p:cNvSpPr txBox="1"/>
          <p:nvPr/>
        </p:nvSpPr>
        <p:spPr>
          <a:xfrm>
            <a:off x="915442" y="4658572"/>
            <a:ext cx="4918933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Creme dental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de até 100 g</a:t>
            </a:r>
          </a:p>
        </p:txBody>
      </p:sp>
      <p:sp>
        <p:nvSpPr>
          <p:cNvPr id="12" name="Texto: p"/>
          <p:cNvSpPr txBox="1"/>
          <p:nvPr/>
        </p:nvSpPr>
        <p:spPr>
          <a:xfrm>
            <a:off x="915442" y="7037448"/>
            <a:ext cx="8264506" cy="11044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O tamanho é regra da unidade. Também faltou nas duas unidades inspecionadas em 2025.</a:t>
            </a:r>
          </a:p>
        </p:txBody>
      </p:sp>
      <p:sp>
        <p:nvSpPr>
          <p:cNvPr id="13" name="Texto: ponte"/>
          <p:cNvSpPr txBox="1"/>
          <p:nvPr/>
        </p:nvSpPr>
        <p:spPr>
          <a:xfrm>
            <a:off x="915442" y="11496457"/>
            <a:ext cx="386430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o aparelho de barbear?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9687" y="11534180"/>
            <a:ext cx="380554" cy="380554"/>
          </a:xfrm>
          <a:prstGeom prst="rect">
            <a:avLst/>
          </a:prstGeom>
        </p:spPr>
      </p:pic>
      <p:sp>
        <p:nvSpPr>
          <p:cNvPr id="3" name="Forma"/>
          <p:cNvSpPr/>
          <p:nvPr/>
        </p:nvSpPr>
        <p:spPr>
          <a:xfrm>
            <a:off x="761583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7845028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: on"/>
          <p:cNvSpPr/>
          <p:nvPr/>
        </p:nvSpPr>
        <p:spPr>
          <a:xfrm>
            <a:off x="8303419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o: tag"/>
          <p:cNvSpPr txBox="1"/>
          <p:nvPr/>
        </p:nvSpPr>
        <p:spPr>
          <a:xfrm>
            <a:off x="915442" y="1018941"/>
            <a:ext cx="933718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3 de 5</a:t>
            </a:r>
          </a:p>
        </p:txBody>
      </p:sp>
      <p:sp>
        <p:nvSpPr>
          <p:cNvPr id="11" name="Texto: h2"/>
          <p:cNvSpPr txBox="1"/>
          <p:nvPr/>
        </p:nvSpPr>
        <p:spPr>
          <a:xfrm>
            <a:off x="915442" y="4658572"/>
            <a:ext cx="8313643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Aparelho de barbear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descartável, 2 lâminas</a:t>
            </a:r>
          </a:p>
        </p:txBody>
      </p:sp>
      <p:sp>
        <p:nvSpPr>
          <p:cNvPr id="12" name="Texto: p"/>
          <p:cNvSpPr txBox="1"/>
          <p:nvPr/>
        </p:nvSpPr>
        <p:spPr>
          <a:xfrm>
            <a:off x="915442" y="7037448"/>
            <a:ext cx="9014302" cy="11044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Faltava na Penitenciária Estadual de Maringá na inspeção de 13/05/2025.</a:t>
            </a:r>
          </a:p>
        </p:txBody>
      </p:sp>
      <p:sp>
        <p:nvSpPr>
          <p:cNvPr id="13" name="Texto: ponte"/>
          <p:cNvSpPr txBox="1"/>
          <p:nvPr/>
        </p:nvSpPr>
        <p:spPr>
          <a:xfrm>
            <a:off x="915442" y="11496457"/>
            <a:ext cx="271685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o sabão em pó?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452" y="11534180"/>
            <a:ext cx="380554" cy="380554"/>
          </a:xfrm>
          <a:prstGeom prst="rect">
            <a:avLst/>
          </a:prstGeom>
        </p:spPr>
      </p:pic>
      <p:sp>
        <p:nvSpPr>
          <p:cNvPr id="3" name="Forma"/>
          <p:cNvSpPr/>
          <p:nvPr/>
        </p:nvSpPr>
        <p:spPr>
          <a:xfrm>
            <a:off x="761583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7845028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303419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: on"/>
          <p:cNvSpPr/>
          <p:nvPr/>
        </p:nvSpPr>
        <p:spPr>
          <a:xfrm>
            <a:off x="8532614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o: tag"/>
          <p:cNvSpPr txBox="1"/>
          <p:nvPr/>
        </p:nvSpPr>
        <p:spPr>
          <a:xfrm>
            <a:off x="915442" y="1018941"/>
            <a:ext cx="951726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4 de 5</a:t>
            </a:r>
          </a:p>
        </p:txBody>
      </p:sp>
      <p:sp>
        <p:nvSpPr>
          <p:cNvPr id="11" name="Texto: h2"/>
          <p:cNvSpPr txBox="1"/>
          <p:nvPr/>
        </p:nvSpPr>
        <p:spPr>
          <a:xfrm>
            <a:off x="915442" y="4658572"/>
            <a:ext cx="7255416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Sabão em pó,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pacote de até 500 g</a:t>
            </a:r>
          </a:p>
        </p:txBody>
      </p:sp>
      <p:sp>
        <p:nvSpPr>
          <p:cNvPr id="12" name="Texto: p"/>
          <p:cNvSpPr txBox="1"/>
          <p:nvPr/>
        </p:nvSpPr>
        <p:spPr>
          <a:xfrm>
            <a:off x="915442" y="7037448"/>
            <a:ext cx="7938498" cy="11044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Para lavar roupa. A lei inclui vestuário na assistência material (LEP, art. 12).</a:t>
            </a:r>
          </a:p>
        </p:txBody>
      </p:sp>
      <p:sp>
        <p:nvSpPr>
          <p:cNvPr id="13" name="Texto: ponte"/>
          <p:cNvSpPr txBox="1"/>
          <p:nvPr/>
        </p:nvSpPr>
        <p:spPr>
          <a:xfrm>
            <a:off x="915442" y="11496457"/>
            <a:ext cx="1750799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o último?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196" y="11534180"/>
            <a:ext cx="380554" cy="380554"/>
          </a:xfrm>
          <a:prstGeom prst="rect">
            <a:avLst/>
          </a:prstGeom>
        </p:spPr>
      </p:pic>
      <p:sp>
        <p:nvSpPr>
          <p:cNvPr id="3" name="Forma"/>
          <p:cNvSpPr/>
          <p:nvPr/>
        </p:nvSpPr>
        <p:spPr>
          <a:xfrm>
            <a:off x="761583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7845028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303419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8532614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: on"/>
          <p:cNvSpPr/>
          <p:nvPr/>
        </p:nvSpPr>
        <p:spPr>
          <a:xfrm>
            <a:off x="8761809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o: tag"/>
          <p:cNvSpPr txBox="1"/>
          <p:nvPr/>
        </p:nvSpPr>
        <p:spPr>
          <a:xfrm>
            <a:off x="915442" y="1018941"/>
            <a:ext cx="933390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5 de 5</a:t>
            </a:r>
          </a:p>
        </p:txBody>
      </p:sp>
      <p:sp>
        <p:nvSpPr>
          <p:cNvPr id="11" name="Texto: h2"/>
          <p:cNvSpPr txBox="1"/>
          <p:nvPr/>
        </p:nvSpPr>
        <p:spPr>
          <a:xfrm>
            <a:off x="915442" y="3915771"/>
            <a:ext cx="9072280" cy="28005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Detergente em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embalagem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transparente, até 500 ml</a:t>
            </a:r>
          </a:p>
        </p:txBody>
      </p:sp>
      <p:sp>
        <p:nvSpPr>
          <p:cNvPr id="12" name="Texto: p"/>
          <p:cNvSpPr txBox="1"/>
          <p:nvPr/>
        </p:nvSpPr>
        <p:spPr>
          <a:xfrm>
            <a:off x="915442" y="7228097"/>
            <a:ext cx="8529569" cy="16566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Embalagem e volume seguem regras de segurança da unidade. [PENDENTE: confirmar o motivo com a unidade]</a:t>
            </a:r>
          </a:p>
        </p:txBody>
      </p:sp>
      <p:sp>
        <p:nvSpPr>
          <p:cNvPr id="13" name="Texto: ponte"/>
          <p:cNvSpPr txBox="1"/>
          <p:nvPr/>
        </p:nvSpPr>
        <p:spPr>
          <a:xfrm>
            <a:off x="915442" y="11496457"/>
            <a:ext cx="18495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Último slide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530" y="3123158"/>
            <a:ext cx="1429792" cy="1429792"/>
          </a:xfrm>
          <a:prstGeom prst="rect">
            <a:avLst/>
          </a:prstGeom>
        </p:spPr>
      </p:pic>
      <p:sp>
        <p:nvSpPr>
          <p:cNvPr id="3" name="Forma: cta"/>
          <p:cNvSpPr/>
          <p:nvPr/>
        </p:nvSpPr>
        <p:spPr>
          <a:xfrm>
            <a:off x="2220218" y="8799463"/>
            <a:ext cx="5846564" cy="1069777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o: tag"/>
          <p:cNvSpPr txBox="1"/>
          <p:nvPr/>
        </p:nvSpPr>
        <p:spPr>
          <a:xfrm>
            <a:off x="4483462" y="4903206"/>
            <a:ext cx="1320076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Na terça</a:t>
            </a:r>
          </a:p>
        </p:txBody>
      </p:sp>
      <p:sp>
        <p:nvSpPr>
          <p:cNvPr id="5" name="Texto: h2"/>
          <p:cNvSpPr txBox="1"/>
          <p:nvPr/>
        </p:nvSpPr>
        <p:spPr>
          <a:xfrm>
            <a:off x="1247552" y="5523264"/>
            <a:ext cx="7791896" cy="28005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O que a Defensoria</a:t>
            </a:r>
            <a:br/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encontrou nas</a:t>
            </a:r>
            <a:br/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unidades de Maringá.</a:t>
            </a:r>
          </a:p>
        </p:txBody>
      </p:sp>
      <p:sp>
        <p:nvSpPr>
          <p:cNvPr id="6" name="Texto: cta"/>
          <p:cNvSpPr txBox="1"/>
          <p:nvPr/>
        </p:nvSpPr>
        <p:spPr>
          <a:xfrm>
            <a:off x="2371755" y="9038830"/>
            <a:ext cx="5543490" cy="4937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888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Salve para consultar depois</a:t>
            </a:r>
          </a:p>
        </p:txBody>
      </p:sp>
      <p:pic>
        <p:nvPicPr>
          <p:cNvPr id="7" name="Seta de rebote" descr="Seta de rebote, marca do proje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feito Rebo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arlow Condense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Efeito Rebote — Qui 15/10: Os 5 itens de higiene do Efeito Rebote, um por um.</dc:title>
  <dc:subject>Kit da Comunicação</dc:subject>
  <dc:creator>Efeito Rebote · Comunicação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pt-BR</dc:language>
</cp:coreProperties>
</file>