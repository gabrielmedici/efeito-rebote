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Série Entenda o projeto · parte 5</a:t>
            </a:r>
          </a:p>
          <a:p>
            <a:r>
              <a:t>3 caminhos que ajudam a não voltar.</a:t>
            </a:r>
          </a:p>
          <a:p/>
          <a:p>
            <a:r>
              <a:t>LEGENDA PRONTA</a:t>
            </a:r>
          </a:p>
          <a:p>
            <a:r>
              <a:t>12 horas de estudo valem 1 dia a menos de pena.</a:t>
            </a:r>
          </a:p>
          <a:p/>
          <a:p>
            <a:r>
              <a:t>É a remição, prevista na Lei de Execução Penal (art. 126): 1 dia de pena a cada 12 horas de frequência escolar, divididas em no mínimo 3 dias, e 1 dia a cada 3 dias de trabalho.</a:t>
            </a:r>
          </a:p>
          <a:p/>
          <a:p>
            <a:r>
              <a:t>As pesquisas apontam um terceiro caminho. Uma revisão de 144 estudos brasileiros, do Instituto Igarapé, associa a falta de apoio da família, e não estudar nem trabalhar, a mais chances de voltar à prisão. É uma associação, e não uma garantia.</a:t>
            </a:r>
          </a:p>
          <a:p/>
          <a:p>
            <a:r>
              <a:t>Na semana que vem, a visita às unidades. Siga o perfil para acompanhar.</a:t>
            </a:r>
          </a:p>
          <a:p/>
          <a:p>
            <a:r>
              <a:t>#EfeitoRebote #SistemaPrisional #ExecuçãoPenal #DireitosHumanos #ExtensãoUniversitária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de 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5442" y="1049238"/>
            <a:ext cx="1429792" cy="1429792"/>
          </a:xfrm>
          <a:prstGeom prst="rect">
            <a:avLst/>
          </a:prstGeom>
        </p:spPr>
      </p:pic>
      <p:pic>
        <p:nvPicPr>
          <p:cNvPr id="3" name="Seta" descr="Seta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0468" y="11534180"/>
            <a:ext cx="380554" cy="380554"/>
          </a:xfrm>
          <a:prstGeom prst="rect">
            <a:avLst/>
          </a:prstGeom>
        </p:spPr>
      </p:pic>
      <p:sp>
        <p:nvSpPr>
          <p:cNvPr id="4" name="Forma: on"/>
          <p:cNvSpPr/>
          <p:nvPr/>
        </p:nvSpPr>
        <p:spPr>
          <a:xfrm>
            <a:off x="7845028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21129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5F75A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4166387"/>
            <a:ext cx="4776341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Série Entenda o projeto · parte 5</a:t>
            </a:r>
          </a:p>
        </p:txBody>
      </p:sp>
      <p:sp>
        <p:nvSpPr>
          <p:cNvPr id="11" name="Texto: h1"/>
          <p:cNvSpPr txBox="1"/>
          <p:nvPr/>
        </p:nvSpPr>
        <p:spPr>
          <a:xfrm>
            <a:off x="915442" y="4921833"/>
            <a:ext cx="6067202" cy="368974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9684"/>
              </a:lnSpc>
              <a:spcBef>
                <a:spcPts val="0"/>
              </a:spcBef>
              <a:spcAft>
                <a:spcPts val="0"/>
              </a:spcAft>
            </a:pPr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3 caminhos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que ajudam</a:t>
            </a:r>
            <a:br/>
            <a:r>
              <a:rPr b="1" i="0" sz="9882" lang="pt-BR" spc="-148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não voltar.</a:t>
            </a:r>
          </a:p>
        </p:txBody>
      </p:sp>
      <p:sp>
        <p:nvSpPr>
          <p:cNvPr id="12" name="Texto: lead"/>
          <p:cNvSpPr txBox="1"/>
          <p:nvPr/>
        </p:nvSpPr>
        <p:spPr>
          <a:xfrm>
            <a:off x="915442" y="8795275"/>
            <a:ext cx="5217771" cy="104042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96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E8EBF4"/>
                </a:solidFill>
                <a:latin typeface="Barlow"/>
                <a:ea typeface="Barlow"/>
                <a:cs typeface="Barlow"/>
              </a:rPr>
              <a:t>O que a lei e as pesquisas apontam.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488"/>
            <a:ext cx="12107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E9C46A"/>
                </a:solidFill>
                <a:latin typeface="Barlow Condensed"/>
                <a:ea typeface="Barlow Condensed"/>
                <a:cs typeface="Barlow Condensed"/>
              </a:rPr>
              <a:t>Arraste</a:t>
            </a:r>
          </a:p>
        </p:txBody>
      </p:sp>
      <p:pic>
        <p:nvPicPr>
          <p:cNvPr id="14" name="Seta de rebote" descr="Seta de rebote, marca do projeto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868442"/>
            <a:ext cx="8437066" cy="2436614"/>
          </a:xfrm>
          <a:prstGeom prst="roundRect">
            <a:avLst>
              <a:gd name="adj" fmla="val 805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370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: on"/>
          <p:cNvSpPr/>
          <p:nvPr/>
        </p:nvSpPr>
        <p:spPr>
          <a:xfrm>
            <a:off x="8074223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5032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2758604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Caminho 1: estudo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4659185"/>
            <a:ext cx="8635335" cy="933524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Estudar diminui a pena.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222617"/>
            <a:ext cx="7515231" cy="16566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LEP, art. 126, § 1º, I: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1 dia de pena a cada 12 horas de frequência escolar [...] divididas, no mínimo, em 3 dias.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488"/>
            <a:ext cx="2069708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trabalho?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6611243"/>
            <a:ext cx="8437066" cy="1884462"/>
          </a:xfrm>
          <a:prstGeom prst="roundRect">
            <a:avLst>
              <a:gd name="adj" fmla="val 10412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2006" y="11534180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: on"/>
          <p:cNvSpPr/>
          <p:nvPr/>
        </p:nvSpPr>
        <p:spPr>
          <a:xfrm>
            <a:off x="830341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"/>
          <p:cNvSpPr/>
          <p:nvPr/>
        </p:nvSpPr>
        <p:spPr>
          <a:xfrm>
            <a:off x="8779520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3035766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Caminho 2: trabalho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4468536"/>
            <a:ext cx="6191949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Trabalhar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também diminui.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6965418"/>
            <a:ext cx="7623355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LEP, art. 126, § 1º, II: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1 dia de pena a cada 3 dias de trabalho.</a:t>
            </a:r>
          </a:p>
        </p:txBody>
      </p:sp>
      <p:sp>
        <p:nvSpPr>
          <p:cNvPr id="13" name="Texto: ponte"/>
          <p:cNvSpPr txBox="1"/>
          <p:nvPr/>
        </p:nvSpPr>
        <p:spPr>
          <a:xfrm>
            <a:off x="915442" y="11515488"/>
            <a:ext cx="2169408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que mais?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rma: box"/>
          <p:cNvSpPr/>
          <p:nvPr/>
        </p:nvSpPr>
        <p:spPr>
          <a:xfrm>
            <a:off x="924967" y="5592663"/>
            <a:ext cx="8437066" cy="2988766"/>
          </a:xfrm>
          <a:prstGeom prst="roundRect">
            <a:avLst>
              <a:gd name="adj" fmla="val 6565"/>
            </a:avLst>
          </a:prstGeom>
          <a:solidFill>
            <a:srgbClr val="FFFFFF"/>
          </a:solidFill>
          <a:ln w="19050">
            <a:solidFill>
              <a:srgbClr val="DCE1EC"/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5452" y="11534031"/>
            <a:ext cx="380554" cy="380554"/>
          </a:xfrm>
          <a:prstGeom prst="rect">
            <a:avLst/>
          </a:prstGeom>
        </p:spPr>
      </p:pic>
      <p:sp>
        <p:nvSpPr>
          <p:cNvPr id="4" name="Forma"/>
          <p:cNvSpPr/>
          <p:nvPr/>
        </p:nvSpPr>
        <p:spPr>
          <a:xfrm>
            <a:off x="7845028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074223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303419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: on"/>
          <p:cNvSpPr/>
          <p:nvPr/>
        </p:nvSpPr>
        <p:spPr>
          <a:xfrm>
            <a:off x="8532614" y="11809512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008715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Forma"/>
          <p:cNvSpPr/>
          <p:nvPr/>
        </p:nvSpPr>
        <p:spPr>
          <a:xfrm>
            <a:off x="9237911" y="11809512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o: tag"/>
          <p:cNvSpPr txBox="1"/>
          <p:nvPr/>
        </p:nvSpPr>
        <p:spPr>
          <a:xfrm>
            <a:off x="915442" y="1079840"/>
            <a:ext cx="2846353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Caminho 3: vínculo</a:t>
            </a:r>
          </a:p>
        </p:txBody>
      </p:sp>
      <p:sp>
        <p:nvSpPr>
          <p:cNvPr id="11" name="Texto: h2"/>
          <p:cNvSpPr txBox="1"/>
          <p:nvPr/>
        </p:nvSpPr>
        <p:spPr>
          <a:xfrm>
            <a:off x="915442" y="3449956"/>
            <a:ext cx="6047393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Manter o vínculo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com a família.</a:t>
            </a:r>
          </a:p>
        </p:txBody>
      </p:sp>
      <p:sp>
        <p:nvSpPr>
          <p:cNvPr id="12" name="Texto: box"/>
          <p:cNvSpPr txBox="1"/>
          <p:nvPr/>
        </p:nvSpPr>
        <p:spPr>
          <a:xfrm>
            <a:off x="1353145" y="5946838"/>
            <a:ext cx="7759458" cy="22089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Uma revisão de </a:t>
            </a:r>
            <a:r>
              <a:rPr b="1" i="0" sz="3150" lang="pt-BR">
                <a:solidFill>
                  <a:srgbClr val="1B3A8C"/>
                </a:solidFill>
                <a:latin typeface="Barlow"/>
                <a:ea typeface="Barlow"/>
                <a:cs typeface="Barlow"/>
              </a:rPr>
              <a:t>144 estudos brasileiros</a:t>
            </a: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 (Instituto Igarapé, 2022) associa a falta de apoio da família a mais chances de voltar à prisão.</a:t>
            </a:r>
          </a:p>
        </p:txBody>
      </p:sp>
      <p:sp>
        <p:nvSpPr>
          <p:cNvPr id="13" name="Texto: p"/>
          <p:cNvSpPr txBox="1"/>
          <p:nvPr/>
        </p:nvSpPr>
        <p:spPr>
          <a:xfrm>
            <a:off x="915442" y="8935605"/>
            <a:ext cx="7403574" cy="552227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É uma associação, e não uma garantia.</a:t>
            </a:r>
          </a:p>
        </p:txBody>
      </p:sp>
      <p:sp>
        <p:nvSpPr>
          <p:cNvPr id="14" name="Texto: ponte"/>
          <p:cNvSpPr txBox="1"/>
          <p:nvPr/>
        </p:nvSpPr>
        <p:spPr>
          <a:xfrm>
            <a:off x="915442" y="11515339"/>
            <a:ext cx="3427199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 o projeto, o que faz?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ta" descr="Set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1196" y="11534180"/>
            <a:ext cx="380554" cy="380554"/>
          </a:xfrm>
          <a:prstGeom prst="rect">
            <a:avLst/>
          </a:prstGeom>
        </p:spPr>
      </p:pic>
      <p:sp>
        <p:nvSpPr>
          <p:cNvPr id="3" name="Forma"/>
          <p:cNvSpPr/>
          <p:nvPr/>
        </p:nvSpPr>
        <p:spPr>
          <a:xfrm>
            <a:off x="7845028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Forma"/>
          <p:cNvSpPr/>
          <p:nvPr/>
        </p:nvSpPr>
        <p:spPr>
          <a:xfrm>
            <a:off x="8074223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rma"/>
          <p:cNvSpPr/>
          <p:nvPr/>
        </p:nvSpPr>
        <p:spPr>
          <a:xfrm>
            <a:off x="8303419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rma"/>
          <p:cNvSpPr/>
          <p:nvPr/>
        </p:nvSpPr>
        <p:spPr>
          <a:xfrm>
            <a:off x="8532614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rma: on"/>
          <p:cNvSpPr/>
          <p:nvPr/>
        </p:nvSpPr>
        <p:spPr>
          <a:xfrm>
            <a:off x="8761809" y="11809661"/>
            <a:ext cx="380554" cy="133648"/>
          </a:xfrm>
          <a:prstGeom prst="roundRect">
            <a:avLst>
              <a:gd name="adj" fmla="val 50000"/>
            </a:avLst>
          </a:prstGeom>
          <a:solidFill>
            <a:srgbClr val="1B3A8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rma"/>
          <p:cNvSpPr/>
          <p:nvPr/>
        </p:nvSpPr>
        <p:spPr>
          <a:xfrm>
            <a:off x="9237911" y="11809661"/>
            <a:ext cx="133648" cy="133648"/>
          </a:xfrm>
          <a:prstGeom prst="ellipse">
            <a:avLst/>
          </a:prstGeom>
          <a:solidFill>
            <a:srgbClr val="DCE1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o: tag"/>
          <p:cNvSpPr txBox="1"/>
          <p:nvPr/>
        </p:nvSpPr>
        <p:spPr>
          <a:xfrm>
            <a:off x="915442" y="1079840"/>
            <a:ext cx="1418139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B5121B"/>
                </a:solidFill>
                <a:latin typeface="Barlow SemiBold"/>
                <a:ea typeface="Barlow SemiBold"/>
                <a:cs typeface="Barlow SemiBold"/>
              </a:rPr>
              <a:t>O projeto</a:t>
            </a:r>
          </a:p>
        </p:txBody>
      </p:sp>
      <p:sp>
        <p:nvSpPr>
          <p:cNvPr id="10" name="Texto: h2"/>
          <p:cNvSpPr txBox="1"/>
          <p:nvPr/>
        </p:nvSpPr>
        <p:spPr>
          <a:xfrm>
            <a:off x="915442" y="4868139"/>
            <a:ext cx="7001828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É por aqui que o</a:t>
            </a:r>
            <a:br/>
            <a:r>
              <a:rPr b="1" i="0" sz="7500" lang="pt-BR" spc="-113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Efeito Rebote atua.</a:t>
            </a:r>
          </a:p>
        </p:txBody>
      </p:sp>
      <p:sp>
        <p:nvSpPr>
          <p:cNvPr id="11" name="Texto: p"/>
          <p:cNvSpPr txBox="1"/>
          <p:nvPr/>
        </p:nvSpPr>
        <p:spPr>
          <a:xfrm>
            <a:off x="915442" y="6965418"/>
            <a:ext cx="8600114" cy="110445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34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3150" lang="pt-BR">
                <a:solidFill>
                  <a:srgbClr val="141B2D"/>
                </a:solidFill>
                <a:latin typeface="Barlow"/>
                <a:ea typeface="Barlow"/>
                <a:cs typeface="Barlow"/>
              </a:rPr>
              <a:t>Estudamos o tema, informamos com fonte e acolhemos as famílias em dia de visita.</a:t>
            </a:r>
          </a:p>
        </p:txBody>
      </p:sp>
      <p:sp>
        <p:nvSpPr>
          <p:cNvPr id="12" name="Texto: ponte"/>
          <p:cNvSpPr txBox="1"/>
          <p:nvPr/>
        </p:nvSpPr>
        <p:spPr>
          <a:xfrm>
            <a:off x="915442" y="11515488"/>
            <a:ext cx="1849517" cy="437712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l">
              <a:lnSpc>
                <a:spcPts val="3447"/>
              </a:lnSpc>
              <a:spcBef>
                <a:spcPts val="0"/>
              </a:spcBef>
              <a:spcAft>
                <a:spcPts val="0"/>
              </a:spcAft>
            </a:pPr>
            <a:r>
              <a:rPr b="1" i="0" sz="2997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Último slide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8C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Selo do projeto" descr="Selo do projeto Efeito Rebot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8530" y="3589883"/>
            <a:ext cx="1429792" cy="1429792"/>
          </a:xfrm>
          <a:prstGeom prst="rect">
            <a:avLst/>
          </a:prstGeom>
        </p:spPr>
      </p:pic>
      <p:sp>
        <p:nvSpPr>
          <p:cNvPr id="3" name="Forma: cta"/>
          <p:cNvSpPr/>
          <p:nvPr/>
        </p:nvSpPr>
        <p:spPr>
          <a:xfrm>
            <a:off x="2365772" y="8332738"/>
            <a:ext cx="5555307" cy="1069777"/>
          </a:xfrm>
          <a:prstGeom prst="roundRect">
            <a:avLst>
              <a:gd name="adj" fmla="val 50000"/>
            </a:avLst>
          </a:prstGeom>
          <a:solidFill>
            <a:srgbClr val="E9C4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Texto: tag"/>
          <p:cNvSpPr txBox="1"/>
          <p:nvPr/>
        </p:nvSpPr>
        <p:spPr>
          <a:xfrm>
            <a:off x="3643298" y="5430830"/>
            <a:ext cx="3000405" cy="304495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2398"/>
              </a:lnSpc>
              <a:spcBef>
                <a:spcPts val="0"/>
              </a:spcBef>
              <a:spcAft>
                <a:spcPts val="0"/>
              </a:spcAft>
            </a:pPr>
            <a:r>
              <a:rPr b="0" i="0" sz="2397" lang="pt-BR">
                <a:solidFill>
                  <a:srgbClr val="E9C46A"/>
                </a:solidFill>
                <a:latin typeface="Barlow SemiBold"/>
                <a:ea typeface="Barlow SemiBold"/>
                <a:cs typeface="Barlow SemiBold"/>
              </a:rPr>
              <a:t>Na semana que vem</a:t>
            </a:r>
          </a:p>
        </p:txBody>
      </p:sp>
      <p:sp>
        <p:nvSpPr>
          <p:cNvPr id="5" name="Texto: h2"/>
          <p:cNvSpPr txBox="1"/>
          <p:nvPr/>
        </p:nvSpPr>
        <p:spPr>
          <a:xfrm>
            <a:off x="1110206" y="6199556"/>
            <a:ext cx="8066440" cy="1867049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7351"/>
              </a:lnSpc>
              <a:spcBef>
                <a:spcPts val="0"/>
              </a:spcBef>
              <a:spcAft>
                <a:spcPts val="0"/>
              </a:spcAft>
            </a:pPr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A visita às unidades</a:t>
            </a:r>
            <a:br/>
            <a:r>
              <a:rPr b="1" i="0" sz="7500" lang="pt-BR" spc="-113">
                <a:solidFill>
                  <a:srgbClr val="FFFFFF"/>
                </a:solidFill>
                <a:latin typeface="Barlow Condensed"/>
                <a:ea typeface="Barlow Condensed"/>
                <a:cs typeface="Barlow Condensed"/>
              </a:rPr>
              <a:t>prisionais de Maringá.</a:t>
            </a:r>
          </a:p>
        </p:txBody>
      </p:sp>
      <p:sp>
        <p:nvSpPr>
          <p:cNvPr id="6" name="Texto: cta"/>
          <p:cNvSpPr txBox="1"/>
          <p:nvPr/>
        </p:nvSpPr>
        <p:spPr>
          <a:xfrm>
            <a:off x="2531872" y="8670860"/>
            <a:ext cx="5223108" cy="493776"/>
          </a:xfrm>
          <a:prstGeom prst="rect">
            <a:avLst/>
          </a:prstGeom>
          <a:noFill/>
        </p:spPr>
        <p:txBody>
          <a:bodyPr wrap="none" lIns="0" rIns="0" tIns="0" bIns="0" anchor="t">
            <a:noAutofit/>
          </a:bodyPr>
          <a:lstStyle/>
          <a:p>
            <a:pPr algn="ctr">
              <a:lnSpc>
                <a:spcPts val="3888"/>
              </a:lnSpc>
              <a:spcBef>
                <a:spcPts val="0"/>
              </a:spcBef>
              <a:spcAft>
                <a:spcPts val="0"/>
              </a:spcAft>
            </a:pPr>
            <a:r>
              <a:rPr b="1" i="0" sz="3888" lang="pt-BR">
                <a:solidFill>
                  <a:srgbClr val="1B3A8C"/>
                </a:solidFill>
                <a:latin typeface="Barlow Condensed"/>
                <a:ea typeface="Barlow Condensed"/>
                <a:cs typeface="Barlow Condensed"/>
              </a:rPr>
              <a:t>Siga @efeitorebote.oficial</a:t>
            </a:r>
          </a:p>
        </p:txBody>
      </p:sp>
      <p:pic>
        <p:nvPicPr>
          <p:cNvPr id="7" name="Seta de rebote" descr="Seta de rebote, marca do proje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6071" y="853678"/>
            <a:ext cx="5904607" cy="5904607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Efeito Rebo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Barlow Condense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Barlow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Efeito Rebote — Sex 30/10: 3 caminhos que ajudam a não voltar.</dc:title>
  <dc:subject>Kit da Comunicação</dc:subject>
  <dc:creator>Efeito Rebote · Comunicação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pt-BR</dc:language>
</cp:coreProperties>
</file>