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Série Entenda o projeto · parte 5</a:t>
            </a:r>
          </a:p>
          <a:p>
            <a:r>
              <a:t>3 caminhos que ajudam a não voltar.</a:t>
            </a:r>
          </a:p>
          <a:p/>
          <a:p>
            <a:r>
              <a:t>LEGENDA PRONTA</a:t>
            </a:r>
          </a:p>
          <a:p>
            <a:r>
              <a:t>12 horas de estudo valem 1 dia a menos de pena.</a:t>
            </a:r>
          </a:p>
          <a:p/>
          <a:p>
            <a:r>
              <a:t>É a remição, prevista na Lei de Execução Penal (art. 126): 1 dia de pena a cada 12 horas de frequência escolar, divididas em no mínimo 3 dias, e 1 dia a cada 3 dias de trabalho.</a:t>
            </a:r>
          </a:p>
          <a:p/>
          <a:p>
            <a:r>
              <a:t>As pesquisas apontam um terceiro caminho. Uma revisão de 144 estudos brasileiros, do Instituto Igarapé, associa a falta de apoio da família, e não estudar nem trabalhar, a mais chances de voltar à prisão. É uma associação, e não uma garantia.</a:t>
            </a:r>
          </a:p>
          <a:p/>
          <a:p>
            <a:r>
              <a:t>Na semana que vem, a visita às unidades. Siga o perfil para acompanhar.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180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7845028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321129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4105488"/>
            <a:ext cx="4776341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Série Entenda o projeto · parte 5</a:t>
            </a:r>
          </a:p>
        </p:txBody>
      </p:sp>
      <p:sp>
        <p:nvSpPr>
          <p:cNvPr id="11" name="Texto: h1"/>
          <p:cNvSpPr txBox="1"/>
          <p:nvPr/>
        </p:nvSpPr>
        <p:spPr>
          <a:xfrm>
            <a:off x="915442" y="4645732"/>
            <a:ext cx="6067202" cy="3689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3 caminhos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que ajudam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a não voltar.</a:t>
            </a:r>
          </a:p>
        </p:txBody>
      </p:sp>
      <p:sp>
        <p:nvSpPr>
          <p:cNvPr id="12" name="Texto: lead"/>
          <p:cNvSpPr txBox="1"/>
          <p:nvPr/>
        </p:nvSpPr>
        <p:spPr>
          <a:xfrm>
            <a:off x="915442" y="8835292"/>
            <a:ext cx="5217771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E8EBF4"/>
                </a:solidFill>
                <a:latin typeface="Barlow"/>
                <a:ea typeface="Barlow"/>
                <a:cs typeface="Barlow"/>
              </a:rPr>
              <a:t>O que a lei e as pesquisas apontam.</a:t>
            </a:r>
          </a:p>
        </p:txBody>
      </p:sp>
      <p:sp>
        <p:nvSpPr>
          <p:cNvPr id="13" name="Texto: ponte"/>
          <p:cNvSpPr txBox="1"/>
          <p:nvPr/>
        </p:nvSpPr>
        <p:spPr>
          <a:xfrm>
            <a:off x="915442" y="11496457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4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5868442"/>
            <a:ext cx="8437066" cy="2436614"/>
          </a:xfrm>
          <a:prstGeom prst="roundRect">
            <a:avLst>
              <a:gd name="adj" fmla="val 8052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370" y="11534180"/>
            <a:ext cx="380554" cy="380554"/>
          </a:xfrm>
          <a:prstGeom prst="rect">
            <a:avLst/>
          </a:prstGeom>
        </p:spPr>
      </p:pic>
      <p:sp>
        <p:nvSpPr>
          <p:cNvPr id="4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074223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1018941"/>
            <a:ext cx="2758604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Caminho 1: estudo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4449618"/>
            <a:ext cx="8635335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Estudar diminui a pena.</a:t>
            </a:r>
          </a:p>
        </p:txBody>
      </p:sp>
      <p:sp>
        <p:nvSpPr>
          <p:cNvPr id="12" name="Texto: box"/>
          <p:cNvSpPr txBox="1"/>
          <p:nvPr/>
        </p:nvSpPr>
        <p:spPr>
          <a:xfrm>
            <a:off x="1353145" y="6294647"/>
            <a:ext cx="7515231" cy="16566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150" lang="pt-BR">
                <a:solidFill>
                  <a:srgbClr val="1B3A8C"/>
                </a:solidFill>
                <a:latin typeface="Barlow"/>
                <a:ea typeface="Barlow"/>
                <a:cs typeface="Barlow"/>
              </a:rPr>
              <a:t>LEP, art. 126, § 1º, I:</a:t>
            </a: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 1 dia de pena a cada 12 horas de frequência escolar [...] divididas, no mínimo, em 3 dias.</a:t>
            </a:r>
          </a:p>
        </p:txBody>
      </p:sp>
      <p:sp>
        <p:nvSpPr>
          <p:cNvPr id="13" name="Texto: ponte"/>
          <p:cNvSpPr txBox="1"/>
          <p:nvPr/>
        </p:nvSpPr>
        <p:spPr>
          <a:xfrm>
            <a:off x="915442" y="11496457"/>
            <a:ext cx="2069708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o trabalho?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6611243"/>
            <a:ext cx="8437066" cy="1884462"/>
          </a:xfrm>
          <a:prstGeom prst="roundRect">
            <a:avLst>
              <a:gd name="adj" fmla="val 10412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006" y="11534180"/>
            <a:ext cx="380554" cy="380554"/>
          </a:xfrm>
          <a:prstGeom prst="rect">
            <a:avLst/>
          </a:prstGeom>
        </p:spPr>
      </p:pic>
      <p:sp>
        <p:nvSpPr>
          <p:cNvPr id="4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: on"/>
          <p:cNvSpPr/>
          <p:nvPr/>
        </p:nvSpPr>
        <p:spPr>
          <a:xfrm>
            <a:off x="830341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1018941"/>
            <a:ext cx="3035766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Caminho 2: trabalho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4258969"/>
            <a:ext cx="6191949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Trabalhar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também diminui.</a:t>
            </a:r>
          </a:p>
        </p:txBody>
      </p:sp>
      <p:sp>
        <p:nvSpPr>
          <p:cNvPr id="12" name="Texto: box"/>
          <p:cNvSpPr txBox="1"/>
          <p:nvPr/>
        </p:nvSpPr>
        <p:spPr>
          <a:xfrm>
            <a:off x="1353145" y="7037448"/>
            <a:ext cx="7623355" cy="110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150" lang="pt-BR">
                <a:solidFill>
                  <a:srgbClr val="1B3A8C"/>
                </a:solidFill>
                <a:latin typeface="Barlow"/>
                <a:ea typeface="Barlow"/>
                <a:cs typeface="Barlow"/>
              </a:rPr>
              <a:t>LEP, art. 126, § 1º, II:</a:t>
            </a: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 1 dia de pena a cada 3 dias de trabalho.</a:t>
            </a:r>
          </a:p>
        </p:txBody>
      </p:sp>
      <p:sp>
        <p:nvSpPr>
          <p:cNvPr id="13" name="Texto: ponte"/>
          <p:cNvSpPr txBox="1"/>
          <p:nvPr/>
        </p:nvSpPr>
        <p:spPr>
          <a:xfrm>
            <a:off x="915442" y="11496457"/>
            <a:ext cx="2169408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o que mais?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5592663"/>
            <a:ext cx="8437066" cy="2988766"/>
          </a:xfrm>
          <a:prstGeom prst="roundRect">
            <a:avLst>
              <a:gd name="adj" fmla="val 6565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452" y="11534031"/>
            <a:ext cx="380554" cy="380554"/>
          </a:xfrm>
          <a:prstGeom prst="rect">
            <a:avLst/>
          </a:prstGeom>
        </p:spPr>
      </p:pic>
      <p:sp>
        <p:nvSpPr>
          <p:cNvPr id="4" name="Forma"/>
          <p:cNvSpPr/>
          <p:nvPr/>
        </p:nvSpPr>
        <p:spPr>
          <a:xfrm>
            <a:off x="7845028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303419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: on"/>
          <p:cNvSpPr/>
          <p:nvPr/>
        </p:nvSpPr>
        <p:spPr>
          <a:xfrm>
            <a:off x="8532614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1018941"/>
            <a:ext cx="2846353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Caminho 3: vínculo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3240389"/>
            <a:ext cx="6047393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Manter o vínculo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com a família.</a:t>
            </a:r>
          </a:p>
        </p:txBody>
      </p:sp>
      <p:sp>
        <p:nvSpPr>
          <p:cNvPr id="12" name="Texto: box"/>
          <p:cNvSpPr txBox="1"/>
          <p:nvPr/>
        </p:nvSpPr>
        <p:spPr>
          <a:xfrm>
            <a:off x="1353145" y="6018868"/>
            <a:ext cx="7759458" cy="22089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Uma revisão de </a:t>
            </a:r>
            <a:r>
              <a:rPr b="1" i="0" sz="3150" lang="pt-BR">
                <a:solidFill>
                  <a:srgbClr val="1B3A8C"/>
                </a:solidFill>
                <a:latin typeface="Barlow"/>
                <a:ea typeface="Barlow"/>
                <a:cs typeface="Barlow"/>
              </a:rPr>
              <a:t>144 estudos brasileiros</a:t>
            </a: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 (Instituto Igarapé, 2022) associa a falta de apoio da família a mais chances de voltar à prisão.</a:t>
            </a:r>
          </a:p>
        </p:txBody>
      </p:sp>
      <p:sp>
        <p:nvSpPr>
          <p:cNvPr id="13" name="Texto: p"/>
          <p:cNvSpPr txBox="1"/>
          <p:nvPr/>
        </p:nvSpPr>
        <p:spPr>
          <a:xfrm>
            <a:off x="915442" y="9007635"/>
            <a:ext cx="7403574" cy="5522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É uma associação, e não uma garantia.</a:t>
            </a:r>
          </a:p>
        </p:txBody>
      </p:sp>
      <p:sp>
        <p:nvSpPr>
          <p:cNvPr id="14" name="Texto: ponte"/>
          <p:cNvSpPr txBox="1"/>
          <p:nvPr/>
        </p:nvSpPr>
        <p:spPr>
          <a:xfrm>
            <a:off x="915442" y="11496308"/>
            <a:ext cx="3427199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o projeto, o que faz?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96" y="11534180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532614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: on"/>
          <p:cNvSpPr/>
          <p:nvPr/>
        </p:nvSpPr>
        <p:spPr>
          <a:xfrm>
            <a:off x="876180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1018941"/>
            <a:ext cx="1418139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O projeto</a:t>
            </a:r>
          </a:p>
        </p:txBody>
      </p:sp>
      <p:sp>
        <p:nvSpPr>
          <p:cNvPr id="10" name="Texto: h2"/>
          <p:cNvSpPr txBox="1"/>
          <p:nvPr/>
        </p:nvSpPr>
        <p:spPr>
          <a:xfrm>
            <a:off x="915442" y="4658572"/>
            <a:ext cx="7001828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É por aqui que 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Efeito Rebote atua.</a:t>
            </a:r>
          </a:p>
        </p:txBody>
      </p:sp>
      <p:sp>
        <p:nvSpPr>
          <p:cNvPr id="11" name="Texto: p"/>
          <p:cNvSpPr txBox="1"/>
          <p:nvPr/>
        </p:nvSpPr>
        <p:spPr>
          <a:xfrm>
            <a:off x="915442" y="7037448"/>
            <a:ext cx="8600114" cy="110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Estudamos o tema, informamos com fonte e acolhemos as famílias em dia de visita.</a:t>
            </a:r>
          </a:p>
        </p:txBody>
      </p:sp>
      <p:sp>
        <p:nvSpPr>
          <p:cNvPr id="12" name="Texto: ponte"/>
          <p:cNvSpPr txBox="1"/>
          <p:nvPr/>
        </p:nvSpPr>
        <p:spPr>
          <a:xfrm>
            <a:off x="915442" y="11496457"/>
            <a:ext cx="18495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Último slide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3589883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365772" y="8332738"/>
            <a:ext cx="5555307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3643298" y="5369931"/>
            <a:ext cx="3000405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Na semana que vem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1110206" y="5989989"/>
            <a:ext cx="8066440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A visita às unidades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prisionais de Maringá.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531872" y="8572105"/>
            <a:ext cx="5223108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Siga @efeitorebote.oficial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Sex 30/10: 3 caminhos que ajudam a não voltar.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