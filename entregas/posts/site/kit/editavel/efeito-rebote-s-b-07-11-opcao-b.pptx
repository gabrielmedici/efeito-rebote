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Opção B · Antes e agora · </a:t>
            </a:r>
          </a:p>
          <a:p>
            <a:r>
              <a:t>Em 2025, faltava escova. Em novembro, entregamos [PENDENTE: nº].</a:t>
            </a:r>
          </a:p>
          <a:p/>
          <a:p>
            <a:r>
              <a:t>LEGENDA PRONTA</a:t>
            </a:r>
          </a:p>
          <a:p>
            <a:r>
              <a:t>Em 2025, a Defensoria Pública do Paraná registrou falta de escova e creme dental em unidades prisionais de Maringá. Em novembro, o Efeito Rebote entregou [PENDENTE: nº] itens de higiene a essas unidades.</a:t>
            </a:r>
          </a:p>
          <a:p/>
          <a:p>
            <a:r>
              <a:t>É uma ajuda real e com prazo. A doação cobre uma parte, por um tempo, e a assistência material continua sendo dever previsto na Lei de Execução Penal (art. 12).</a:t>
            </a:r>
          </a:p>
          <a:p/>
          <a:p>
            <a:r>
              <a:t>Na terça, a prestação de contas por unidade. Siga o perfil.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180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8074223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2875572"/>
            <a:ext cx="2627962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Resultado parcial</a:t>
            </a:r>
          </a:p>
        </p:txBody>
      </p:sp>
      <p:sp>
        <p:nvSpPr>
          <p:cNvPr id="10" name="Texto: h1"/>
          <p:cNvSpPr txBox="1"/>
          <p:nvPr/>
        </p:nvSpPr>
        <p:spPr>
          <a:xfrm>
            <a:off x="915442" y="3415816"/>
            <a:ext cx="7879646" cy="6149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Em 2025,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faltava escova.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Em novembro,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entregamos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[PENDENTE: nº].</a:t>
            </a:r>
          </a:p>
        </p:txBody>
      </p:sp>
      <p:sp>
        <p:nvSpPr>
          <p:cNvPr id="11" name="Texto: lead"/>
          <p:cNvSpPr txBox="1"/>
          <p:nvPr/>
        </p:nvSpPr>
        <p:spPr>
          <a:xfrm>
            <a:off x="915442" y="10065207"/>
            <a:ext cx="5582028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E8EBF4"/>
                </a:solidFill>
                <a:latin typeface="Barlow"/>
                <a:ea typeface="Barlow"/>
                <a:cs typeface="Barlow"/>
              </a:rPr>
              <a:t>O resultado parcial do Efeito Rebote.</a:t>
            </a:r>
          </a:p>
        </p:txBody>
      </p:sp>
      <p:sp>
        <p:nvSpPr>
          <p:cNvPr id="12" name="Texto: ponte"/>
          <p:cNvSpPr txBox="1"/>
          <p:nvPr/>
        </p:nvSpPr>
        <p:spPr>
          <a:xfrm>
            <a:off x="915442" y="11496457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3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5868442"/>
            <a:ext cx="8437066" cy="2436614"/>
          </a:xfrm>
          <a:prstGeom prst="roundRect">
            <a:avLst>
              <a:gd name="adj" fmla="val 8052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3442" y="11534180"/>
            <a:ext cx="380554" cy="380554"/>
          </a:xfrm>
          <a:prstGeom prst="rect">
            <a:avLst/>
          </a:prstGeom>
        </p:spPr>
      </p:pic>
      <p:sp>
        <p:nvSpPr>
          <p:cNvPr id="4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30341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1018941"/>
            <a:ext cx="2781360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O ponto de partida</a:t>
            </a:r>
          </a:p>
        </p:txBody>
      </p:sp>
      <p:sp>
        <p:nvSpPr>
          <p:cNvPr id="10" name="Texto: h2"/>
          <p:cNvSpPr txBox="1"/>
          <p:nvPr/>
        </p:nvSpPr>
        <p:spPr>
          <a:xfrm>
            <a:off x="915442" y="4449618"/>
            <a:ext cx="8672989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Faltavam itens básicos.</a:t>
            </a:r>
          </a:p>
        </p:txBody>
      </p:sp>
      <p:sp>
        <p:nvSpPr>
          <p:cNvPr id="11" name="Texto: box"/>
          <p:cNvSpPr txBox="1"/>
          <p:nvPr/>
        </p:nvSpPr>
        <p:spPr>
          <a:xfrm>
            <a:off x="1353145" y="6294647"/>
            <a:ext cx="7773150" cy="16566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Nas inspeções da </a:t>
            </a:r>
            <a:r>
              <a:rPr b="1" i="0" sz="3150" lang="pt-BR">
                <a:solidFill>
                  <a:srgbClr val="1B3A8C"/>
                </a:solidFill>
                <a:latin typeface="Barlow"/>
                <a:ea typeface="Barlow"/>
                <a:cs typeface="Barlow"/>
              </a:rPr>
              <a:t>Defensoria Pública do Paraná</a:t>
            </a: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 em 2025, faltavam escova e creme dental em unidades de Maringá.</a:t>
            </a:r>
          </a:p>
        </p:txBody>
      </p:sp>
      <p:sp>
        <p:nvSpPr>
          <p:cNvPr id="12" name="Texto: ponte"/>
          <p:cNvSpPr txBox="1"/>
          <p:nvPr/>
        </p:nvSpPr>
        <p:spPr>
          <a:xfrm>
            <a:off x="915442" y="11496457"/>
            <a:ext cx="3281988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o que foi entregue?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924967" y="3537198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1243012" y="3814167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924967" y="5001964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1243012" y="5278934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4967" y="6466731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1243012" y="6743700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4967" y="7931497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1243012" y="8208466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orma"/>
          <p:cNvSpPr/>
          <p:nvPr/>
        </p:nvSpPr>
        <p:spPr>
          <a:xfrm>
            <a:off x="924967" y="9396264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orma"/>
          <p:cNvSpPr/>
          <p:nvPr/>
        </p:nvSpPr>
        <p:spPr>
          <a:xfrm>
            <a:off x="1243012" y="9673233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573" y="11534180"/>
            <a:ext cx="380554" cy="380554"/>
          </a:xfrm>
          <a:prstGeom prst="rect">
            <a:avLst/>
          </a:prstGeom>
        </p:spPr>
      </p:pic>
      <p:sp>
        <p:nvSpPr>
          <p:cNvPr id="13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orma: on"/>
          <p:cNvSpPr/>
          <p:nvPr/>
        </p:nvSpPr>
        <p:spPr>
          <a:xfrm>
            <a:off x="8532614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o: tag"/>
          <p:cNvSpPr txBox="1"/>
          <p:nvPr/>
        </p:nvSpPr>
        <p:spPr>
          <a:xfrm>
            <a:off x="915442" y="1018941"/>
            <a:ext cx="2746817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O que entregamos</a:t>
            </a:r>
          </a:p>
        </p:txBody>
      </p:sp>
      <p:sp>
        <p:nvSpPr>
          <p:cNvPr id="19" name="Texto: h2"/>
          <p:cNvSpPr txBox="1"/>
          <p:nvPr/>
        </p:nvSpPr>
        <p:spPr>
          <a:xfrm>
            <a:off x="915442" y="2118374"/>
            <a:ext cx="5789712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Itens entregues</a:t>
            </a:r>
          </a:p>
        </p:txBody>
      </p:sp>
      <p:sp>
        <p:nvSpPr>
          <p:cNvPr id="20" name="Texto: span"/>
          <p:cNvSpPr txBox="1"/>
          <p:nvPr/>
        </p:nvSpPr>
        <p:spPr>
          <a:xfrm>
            <a:off x="1488378" y="3938221"/>
            <a:ext cx="19521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1</a:t>
            </a:r>
          </a:p>
        </p:txBody>
      </p:sp>
      <p:sp>
        <p:nvSpPr>
          <p:cNvPr id="21" name="Texto: it"/>
          <p:cNvSpPr txBox="1"/>
          <p:nvPr/>
        </p:nvSpPr>
        <p:spPr>
          <a:xfrm>
            <a:off x="2175867" y="3923666"/>
            <a:ext cx="4395386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Escovas: [PENDENTE]</a:t>
            </a:r>
          </a:p>
        </p:txBody>
      </p:sp>
      <p:sp>
        <p:nvSpPr>
          <p:cNvPr id="22" name="Texto: span"/>
          <p:cNvSpPr txBox="1"/>
          <p:nvPr/>
        </p:nvSpPr>
        <p:spPr>
          <a:xfrm>
            <a:off x="1456283" y="5402987"/>
            <a:ext cx="259556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2</a:t>
            </a:r>
          </a:p>
        </p:txBody>
      </p:sp>
      <p:sp>
        <p:nvSpPr>
          <p:cNvPr id="23" name="Texto: it"/>
          <p:cNvSpPr txBox="1"/>
          <p:nvPr/>
        </p:nvSpPr>
        <p:spPr>
          <a:xfrm>
            <a:off x="2175867" y="5388432"/>
            <a:ext cx="5790039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Cremes dentais: [PENDENTE]</a:t>
            </a:r>
          </a:p>
        </p:txBody>
      </p:sp>
      <p:sp>
        <p:nvSpPr>
          <p:cNvPr id="24" name="Texto: span"/>
          <p:cNvSpPr txBox="1"/>
          <p:nvPr/>
        </p:nvSpPr>
        <p:spPr>
          <a:xfrm>
            <a:off x="1456618" y="6867754"/>
            <a:ext cx="25873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3</a:t>
            </a:r>
          </a:p>
        </p:txBody>
      </p:sp>
      <p:sp>
        <p:nvSpPr>
          <p:cNvPr id="25" name="Texto: it"/>
          <p:cNvSpPr txBox="1"/>
          <p:nvPr/>
        </p:nvSpPr>
        <p:spPr>
          <a:xfrm>
            <a:off x="2175867" y="6853199"/>
            <a:ext cx="6863655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Aparelhos de barbear: [PENDENTE]</a:t>
            </a:r>
          </a:p>
        </p:txBody>
      </p:sp>
      <p:sp>
        <p:nvSpPr>
          <p:cNvPr id="26" name="Texto: span"/>
          <p:cNvSpPr txBox="1"/>
          <p:nvPr/>
        </p:nvSpPr>
        <p:spPr>
          <a:xfrm>
            <a:off x="1446624" y="8332520"/>
            <a:ext cx="278874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4</a:t>
            </a:r>
          </a:p>
        </p:txBody>
      </p:sp>
      <p:sp>
        <p:nvSpPr>
          <p:cNvPr id="27" name="Texto: it"/>
          <p:cNvSpPr txBox="1"/>
          <p:nvPr/>
        </p:nvSpPr>
        <p:spPr>
          <a:xfrm>
            <a:off x="2175867" y="8317965"/>
            <a:ext cx="5250939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Sabão em pó: [PENDENTE]</a:t>
            </a:r>
          </a:p>
        </p:txBody>
      </p:sp>
      <p:sp>
        <p:nvSpPr>
          <p:cNvPr id="28" name="Texto: span"/>
          <p:cNvSpPr txBox="1"/>
          <p:nvPr/>
        </p:nvSpPr>
        <p:spPr>
          <a:xfrm>
            <a:off x="1455963" y="9797286"/>
            <a:ext cx="260047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5</a:t>
            </a:r>
          </a:p>
        </p:txBody>
      </p:sp>
      <p:sp>
        <p:nvSpPr>
          <p:cNvPr id="29" name="Texto: it"/>
          <p:cNvSpPr txBox="1"/>
          <p:nvPr/>
        </p:nvSpPr>
        <p:spPr>
          <a:xfrm>
            <a:off x="2175867" y="9782731"/>
            <a:ext cx="5167774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Detergentes: [PENDENTE]</a:t>
            </a:r>
          </a:p>
        </p:txBody>
      </p:sp>
      <p:sp>
        <p:nvSpPr>
          <p:cNvPr id="30" name="Texto: ponte"/>
          <p:cNvSpPr txBox="1"/>
          <p:nvPr/>
        </p:nvSpPr>
        <p:spPr>
          <a:xfrm>
            <a:off x="915442" y="11496457"/>
            <a:ext cx="2083132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Isso resolve?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96" y="11534180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532614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: on"/>
          <p:cNvSpPr/>
          <p:nvPr/>
        </p:nvSpPr>
        <p:spPr>
          <a:xfrm>
            <a:off x="876180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o: tag"/>
          <p:cNvSpPr txBox="1"/>
          <p:nvPr/>
        </p:nvSpPr>
        <p:spPr>
          <a:xfrm>
            <a:off x="915442" y="1018941"/>
            <a:ext cx="2641714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Com honestidade</a:t>
            </a:r>
          </a:p>
        </p:txBody>
      </p:sp>
      <p:sp>
        <p:nvSpPr>
          <p:cNvPr id="9" name="Texto: h2"/>
          <p:cNvSpPr txBox="1"/>
          <p:nvPr/>
        </p:nvSpPr>
        <p:spPr>
          <a:xfrm>
            <a:off x="915442" y="4382496"/>
            <a:ext cx="6814378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Ajuda, mas não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substitui o Estado.</a:t>
            </a:r>
          </a:p>
        </p:txBody>
      </p:sp>
      <p:sp>
        <p:nvSpPr>
          <p:cNvPr id="10" name="Texto: p"/>
          <p:cNvSpPr txBox="1"/>
          <p:nvPr/>
        </p:nvSpPr>
        <p:spPr>
          <a:xfrm>
            <a:off x="915442" y="6761372"/>
            <a:ext cx="8387215" cy="16566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A doação cobre uma parte e por um tempo. O dever de assistência material continua previsto na lei (LEP, art. 12).</a:t>
            </a:r>
          </a:p>
        </p:txBody>
      </p:sp>
      <p:sp>
        <p:nvSpPr>
          <p:cNvPr id="11" name="Texto: ponte"/>
          <p:cNvSpPr txBox="1"/>
          <p:nvPr/>
        </p:nvSpPr>
        <p:spPr>
          <a:xfrm>
            <a:off x="915442" y="11496457"/>
            <a:ext cx="18495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Último slide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3589883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365772" y="8332738"/>
            <a:ext cx="5555307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4483462" y="5369931"/>
            <a:ext cx="1320076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Na terça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1384749" y="5989989"/>
            <a:ext cx="7517353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A prestação de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contas, por unidade.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531872" y="8572105"/>
            <a:ext cx="5223108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Siga @efeitorebote.oficial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Sáb 07/11: Em 2025, faltava escova. Em novembro, entregamos [PENDENTE: nº].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