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Opção B · Uma unidade por slide · </a:t>
            </a:r>
          </a:p>
          <a:p>
            <a:r>
              <a:t>O que cada unidade prisional de Maringá recebeu.</a:t>
            </a:r>
          </a:p>
          <a:p/>
          <a:p>
            <a:r>
              <a:t>LEGENDA PRONTA</a:t>
            </a:r>
          </a:p>
          <a:p>
            <a:r>
              <a:t>A Penitenciária Estadual de Maringá recebeu [PENDENTE: nº] itens de higiene do Efeito Rebote. Em 2025, a Defensoria Pública do Paraná tinha registrado falta de pasta de dente, aparelho de barbear e escova por lá.</a:t>
            </a:r>
          </a:p>
          <a:p/>
          <a:p>
            <a:r>
              <a:t>No carrossel, cada unidade aparece com o que recebeu e com a falta registrada em 2025. No último slide, quanto entrou e quanto saiu, em reais. Os comprovantes ficam com a comissão financeira e estão disponíveis a quem pedir.</a:t>
            </a:r>
          </a:p>
          <a:p/>
          <a:p>
            <a:r>
              <a:t>Na quinta, a turma conta o que aprendeu. Siga o perfil.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180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7845028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321129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3490530"/>
            <a:ext cx="3090118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Prestação de contas</a:t>
            </a:r>
          </a:p>
        </p:txBody>
      </p:sp>
      <p:sp>
        <p:nvSpPr>
          <p:cNvPr id="11" name="Texto: h1"/>
          <p:cNvSpPr txBox="1"/>
          <p:nvPr/>
        </p:nvSpPr>
        <p:spPr>
          <a:xfrm>
            <a:off x="915442" y="4030774"/>
            <a:ext cx="8353261" cy="4919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O que cada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unidade prisional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de Maringá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recebeu.</a:t>
            </a:r>
          </a:p>
        </p:txBody>
      </p:sp>
      <p:sp>
        <p:nvSpPr>
          <p:cNvPr id="12" name="Texto: lead"/>
          <p:cNvSpPr txBox="1"/>
          <p:nvPr/>
        </p:nvSpPr>
        <p:spPr>
          <a:xfrm>
            <a:off x="915442" y="9450249"/>
            <a:ext cx="5734502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E8EBF4"/>
                </a:solidFill>
                <a:latin typeface="Barlow"/>
                <a:ea typeface="Barlow"/>
                <a:cs typeface="Barlow"/>
              </a:rPr>
              <a:t>Itens entregues, unidade por unidade, e o total em reais.</a:t>
            </a:r>
          </a:p>
        </p:txBody>
      </p:sp>
      <p:sp>
        <p:nvSpPr>
          <p:cNvPr id="13" name="Texto: ponte"/>
          <p:cNvSpPr txBox="1"/>
          <p:nvPr/>
        </p:nvSpPr>
        <p:spPr>
          <a:xfrm>
            <a:off x="915442" y="11496457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4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259" y="11534031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7845028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: on"/>
          <p:cNvSpPr/>
          <p:nvPr/>
        </p:nvSpPr>
        <p:spPr>
          <a:xfrm>
            <a:off x="8074223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55032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779520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1018941"/>
            <a:ext cx="3376285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Penitenciária Estadual</a:t>
            </a:r>
          </a:p>
        </p:txBody>
      </p:sp>
      <p:sp>
        <p:nvSpPr>
          <p:cNvPr id="10" name="Texto: num"/>
          <p:cNvSpPr txBox="1"/>
          <p:nvPr/>
        </p:nvSpPr>
        <p:spPr>
          <a:xfrm>
            <a:off x="915442" y="1857938"/>
            <a:ext cx="9853463" cy="48616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14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2518" lang="pt-BR" spc="-676">
                <a:solidFill>
                  <a:srgbClr val="B5121B"/>
                </a:solidFill>
                <a:latin typeface="Barlow Condensed"/>
                <a:ea typeface="Barlow Condensed"/>
                <a:cs typeface="Barlow Condensed"/>
              </a:rPr>
              <a:t>[PENDENTE]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7519150"/>
            <a:ext cx="4576286" cy="7097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5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5702" lang="pt-BR" spc="-86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itens entregues.</a:t>
            </a:r>
          </a:p>
        </p:txBody>
      </p:sp>
      <p:sp>
        <p:nvSpPr>
          <p:cNvPr id="12" name="Texto: p"/>
          <p:cNvSpPr txBox="1"/>
          <p:nvPr/>
        </p:nvSpPr>
        <p:spPr>
          <a:xfrm>
            <a:off x="915442" y="8722778"/>
            <a:ext cx="8762187" cy="110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Em 2025, faltavam pasta de dente, aparelho de barbear e escova.</a:t>
            </a:r>
          </a:p>
        </p:txBody>
      </p:sp>
      <p:sp>
        <p:nvSpPr>
          <p:cNvPr id="13" name="Texto: fonte"/>
          <p:cNvSpPr txBox="1"/>
          <p:nvPr/>
        </p:nvSpPr>
        <p:spPr>
          <a:xfrm>
            <a:off x="915442" y="10190064"/>
            <a:ext cx="5580653" cy="3332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6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944" lang="pt-BR">
                <a:solidFill>
                  <a:srgbClr val="4A5568"/>
                </a:solidFill>
                <a:latin typeface="Barlow"/>
                <a:ea typeface="Barlow"/>
                <a:cs typeface="Barlow"/>
              </a:rPr>
              <a:t>Triagem · Defensoria Pública do PR, 13/05/2025</a:t>
            </a:r>
          </a:p>
        </p:txBody>
      </p:sp>
      <p:sp>
        <p:nvSpPr>
          <p:cNvPr id="14" name="Texto: ponte"/>
          <p:cNvSpPr txBox="1"/>
          <p:nvPr/>
        </p:nvSpPr>
        <p:spPr>
          <a:xfrm>
            <a:off x="915442" y="11496308"/>
            <a:ext cx="3398386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a Casa de Custódia?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248" y="11534031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7845028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30341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779520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1018941"/>
            <a:ext cx="2596202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Casa de Custódia</a:t>
            </a:r>
          </a:p>
        </p:txBody>
      </p:sp>
      <p:sp>
        <p:nvSpPr>
          <p:cNvPr id="10" name="Texto: num"/>
          <p:cNvSpPr txBox="1"/>
          <p:nvPr/>
        </p:nvSpPr>
        <p:spPr>
          <a:xfrm>
            <a:off x="915442" y="2134014"/>
            <a:ext cx="9853463" cy="48616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14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2518" lang="pt-BR" spc="-676">
                <a:solidFill>
                  <a:srgbClr val="B5121B"/>
                </a:solidFill>
                <a:latin typeface="Barlow Condensed"/>
                <a:ea typeface="Barlow Condensed"/>
                <a:cs typeface="Barlow Condensed"/>
              </a:rPr>
              <a:t>[PENDENTE]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7795226"/>
            <a:ext cx="4576286" cy="7097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5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5702" lang="pt-BR" spc="-86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itens entregues.</a:t>
            </a:r>
          </a:p>
        </p:txBody>
      </p:sp>
      <p:sp>
        <p:nvSpPr>
          <p:cNvPr id="12" name="Texto: p"/>
          <p:cNvSpPr txBox="1"/>
          <p:nvPr/>
        </p:nvSpPr>
        <p:spPr>
          <a:xfrm>
            <a:off x="915442" y="8998854"/>
            <a:ext cx="8007013" cy="5522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Em 2025, faltaram creme dental e escova.</a:t>
            </a:r>
          </a:p>
        </p:txBody>
      </p:sp>
      <p:sp>
        <p:nvSpPr>
          <p:cNvPr id="13" name="Texto: fonte"/>
          <p:cNvSpPr txBox="1"/>
          <p:nvPr/>
        </p:nvSpPr>
        <p:spPr>
          <a:xfrm>
            <a:off x="915442" y="9913988"/>
            <a:ext cx="5582781" cy="3332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6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944" lang="pt-BR">
                <a:solidFill>
                  <a:srgbClr val="4A5568"/>
                </a:solidFill>
                <a:latin typeface="Barlow"/>
                <a:ea typeface="Barlow"/>
                <a:cs typeface="Barlow"/>
              </a:rPr>
              <a:t>Triagem · Defensoria Pública do PR, 21/03/2025</a:t>
            </a:r>
          </a:p>
        </p:txBody>
      </p:sp>
      <p:sp>
        <p:nvSpPr>
          <p:cNvPr id="14" name="Texto: ponte"/>
          <p:cNvSpPr txBox="1"/>
          <p:nvPr/>
        </p:nvSpPr>
        <p:spPr>
          <a:xfrm>
            <a:off x="915442" y="11496308"/>
            <a:ext cx="2834074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a Colônia Penal?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539" y="11534031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7845028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303419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: on"/>
          <p:cNvSpPr/>
          <p:nvPr/>
        </p:nvSpPr>
        <p:spPr>
          <a:xfrm>
            <a:off x="8532614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1018941"/>
            <a:ext cx="3505780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Colônia Penal Industrial</a:t>
            </a:r>
          </a:p>
        </p:txBody>
      </p:sp>
      <p:sp>
        <p:nvSpPr>
          <p:cNvPr id="10" name="Texto: num"/>
          <p:cNvSpPr txBox="1"/>
          <p:nvPr/>
        </p:nvSpPr>
        <p:spPr>
          <a:xfrm>
            <a:off x="915442" y="2134014"/>
            <a:ext cx="9853463" cy="48616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14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2518" lang="pt-BR" spc="-676">
                <a:solidFill>
                  <a:srgbClr val="B5121B"/>
                </a:solidFill>
                <a:latin typeface="Barlow Condensed"/>
                <a:ea typeface="Barlow Condensed"/>
                <a:cs typeface="Barlow Condensed"/>
              </a:rPr>
              <a:t>[PENDENTE]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7795226"/>
            <a:ext cx="4576286" cy="7097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5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5702" lang="pt-BR" spc="-86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itens entregues.</a:t>
            </a:r>
          </a:p>
        </p:txBody>
      </p:sp>
      <p:sp>
        <p:nvSpPr>
          <p:cNvPr id="12" name="Texto: p"/>
          <p:cNvSpPr txBox="1"/>
          <p:nvPr/>
        </p:nvSpPr>
        <p:spPr>
          <a:xfrm>
            <a:off x="915442" y="8998854"/>
            <a:ext cx="9282157" cy="5522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Em 2025, o kit de higiene não chegava completo.</a:t>
            </a:r>
          </a:p>
        </p:txBody>
      </p:sp>
      <p:sp>
        <p:nvSpPr>
          <p:cNvPr id="13" name="Texto: fonte"/>
          <p:cNvSpPr txBox="1"/>
          <p:nvPr/>
        </p:nvSpPr>
        <p:spPr>
          <a:xfrm>
            <a:off x="915442" y="9913988"/>
            <a:ext cx="5449357" cy="3332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6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944" lang="pt-BR">
                <a:solidFill>
                  <a:srgbClr val="4A5568"/>
                </a:solidFill>
                <a:latin typeface="Barlow"/>
                <a:ea typeface="Barlow"/>
                <a:cs typeface="Barlow"/>
              </a:rPr>
              <a:t>Triagem · Defensoria Pública do PR, ago./2025</a:t>
            </a:r>
          </a:p>
        </p:txBody>
      </p:sp>
      <p:sp>
        <p:nvSpPr>
          <p:cNvPr id="14" name="Texto: ponte"/>
          <p:cNvSpPr txBox="1"/>
          <p:nvPr/>
        </p:nvSpPr>
        <p:spPr>
          <a:xfrm>
            <a:off x="915442" y="11496308"/>
            <a:ext cx="2039094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o dinheiro?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96" y="11534180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532614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: on"/>
          <p:cNvSpPr/>
          <p:nvPr/>
        </p:nvSpPr>
        <p:spPr>
          <a:xfrm>
            <a:off x="876180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1018941"/>
            <a:ext cx="1346106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Em reais</a:t>
            </a:r>
          </a:p>
        </p:txBody>
      </p:sp>
      <p:sp>
        <p:nvSpPr>
          <p:cNvPr id="10" name="Texto: h2"/>
          <p:cNvSpPr txBox="1"/>
          <p:nvPr/>
        </p:nvSpPr>
        <p:spPr>
          <a:xfrm>
            <a:off x="915442" y="4382496"/>
            <a:ext cx="5307747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Entrou R$ [—].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Saiu R$ [—].</a:t>
            </a:r>
          </a:p>
        </p:txBody>
      </p:sp>
      <p:sp>
        <p:nvSpPr>
          <p:cNvPr id="11" name="Texto: p"/>
          <p:cNvSpPr txBox="1"/>
          <p:nvPr/>
        </p:nvSpPr>
        <p:spPr>
          <a:xfrm>
            <a:off x="915442" y="6761372"/>
            <a:ext cx="8835188" cy="16566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A saída inclui o prêmio e os itens comprados com nota fiscal. Os comprovantes estão com o Financeiro.</a:t>
            </a:r>
          </a:p>
        </p:txBody>
      </p:sp>
      <p:sp>
        <p:nvSpPr>
          <p:cNvPr id="12" name="Texto: ponte"/>
          <p:cNvSpPr txBox="1"/>
          <p:nvPr/>
        </p:nvSpPr>
        <p:spPr>
          <a:xfrm>
            <a:off x="915442" y="11496457"/>
            <a:ext cx="18495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Último slide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3589883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365772" y="8332738"/>
            <a:ext cx="5555307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4403906" y="5369931"/>
            <a:ext cx="1479039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Na quinta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2201994" y="5989989"/>
            <a:ext cx="5882863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A turma conta o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que aprendeu.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531872" y="8572105"/>
            <a:ext cx="5223108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Siga @efeitorebote.oficial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Ter 10/11: O que cada unidade prisional de Maringá recebeu.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