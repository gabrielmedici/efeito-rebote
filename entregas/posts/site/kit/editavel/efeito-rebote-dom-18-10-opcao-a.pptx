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A · Dado na capa: reincidência · </a:t>
            </a:r>
          </a:p>
          <a:p>
            <a:r>
              <a:t>Quase 1 em cada 4 volta a ser condenado.</a:t>
            </a:r>
          </a:p>
          <a:p/>
          <a:p>
            <a:r>
              <a:t>LEGENDA PRONTA</a:t>
            </a:r>
          </a:p>
          <a:p>
            <a:r>
              <a:t>24,4%. Esse foi o percentual de pessoas que voltaram a ser condenadas em até cinco anos, num estudo do Ipea para o CNJ em cinco estados, entre eles o Paraná.</a:t>
            </a:r>
          </a:p>
          <a:p/>
          <a:p>
            <a:r>
              <a:t>Reincidir é cometer um novo crime depois de uma condenação definitiva, como define o Código Penal (art. 63). O número ajuda a explicar o nome do nosso projeto: quando falta o básico dentro do sistema prisional, o custo volta para fora, na saúde e no orçamento das famílias, e o ciclo pode recomeçar.</a:t>
            </a:r>
          </a:p>
          <a:p/>
          <a:p>
            <a:r>
              <a:t>Na terça, o que a Defensoria Pública encontrou nas unidades de Maringá. Siga o perfil para acompanhar.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3509133"/>
            <a:ext cx="475063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Você sabe o que é reincidência?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4049378"/>
            <a:ext cx="7483629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Quase 1 em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cada 4 volta 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ser condenado.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8238937"/>
            <a:ext cx="5532394" cy="1560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O que esse número quer dizer e por que ele pesa também do lado de fora.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10130682"/>
            <a:ext cx="4245426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BBC4DD"/>
                </a:solidFill>
                <a:latin typeface="Barlow"/>
                <a:ea typeface="Barlow"/>
                <a:cs typeface="Barlow"/>
              </a:rPr>
              <a:t>Ipea para o CNJ, 2015, em 5 estados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5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7268617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317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64471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conceito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049443"/>
            <a:ext cx="8402702" cy="373409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Reincidir é cometer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um novo crime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depois de uma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condenação definitiva.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7694822"/>
            <a:ext cx="7994309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É o que diz o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Código Penal, art. 63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. Nas pesquisas, a palavra às vezes ganha sentido mais amplo, e por isso os números mudam.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4696450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quantas pessoas reincidem?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367" y="11534031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148133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número</a:t>
            </a:r>
          </a:p>
        </p:txBody>
      </p:sp>
      <p:sp>
        <p:nvSpPr>
          <p:cNvPr id="10" name="Texto: num"/>
          <p:cNvSpPr txBox="1"/>
          <p:nvPr/>
        </p:nvSpPr>
        <p:spPr>
          <a:xfrm>
            <a:off x="915442" y="2166310"/>
            <a:ext cx="7100709" cy="24308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1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2518" lang="pt-BR" spc="-676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24,4%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5396861"/>
            <a:ext cx="7632115" cy="14194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voltaram a ser condenados</a:t>
            </a:r>
            <a:br/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em até 5 anos.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7310101"/>
            <a:ext cx="8475172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Estudo do Ipea para o CNJ em 5 estados, entre eles o Paraná. Pesquisas que contam quem volta à prisão, mesmo sem nova condenação, chegam a 36% a 42%.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9881692"/>
            <a:ext cx="7231514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4A5568"/>
                </a:solidFill>
                <a:latin typeface="Barlow"/>
                <a:ea typeface="Barlow"/>
                <a:cs typeface="Barlow"/>
              </a:rPr>
              <a:t>Ipea, 2015 (reincidência legal) · Depen/UFPE, 2022 (reentrada)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308"/>
            <a:ext cx="6812905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por que isso importa para quem está fora?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558120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858173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7045970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750004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volta"/>
          <p:cNvSpPr/>
          <p:nvPr/>
        </p:nvSpPr>
        <p:spPr>
          <a:xfrm>
            <a:off x="924967" y="8864947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1B3A8C"/>
          </a:solidFill>
          <a:ln w="19050">
            <a:solidFill>
              <a:srgbClr val="1B3A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9319022"/>
            <a:ext cx="686098" cy="686098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047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o: tag"/>
          <p:cNvSpPr txBox="1"/>
          <p:nvPr/>
        </p:nvSpPr>
        <p:spPr>
          <a:xfrm>
            <a:off x="915442" y="1018941"/>
            <a:ext cx="225912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efeito rebote</a:t>
            </a:r>
          </a:p>
        </p:txBody>
      </p:sp>
      <p:sp>
        <p:nvSpPr>
          <p:cNvPr id="16" name="Texto: h2"/>
          <p:cNvSpPr txBox="1"/>
          <p:nvPr/>
        </p:nvSpPr>
        <p:spPr>
          <a:xfrm>
            <a:off x="915442" y="2295479"/>
            <a:ext cx="7936453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Quando falta o básico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lá dentro, o custo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volta para fora.</a:t>
            </a:r>
          </a:p>
        </p:txBody>
      </p:sp>
      <p:sp>
        <p:nvSpPr>
          <p:cNvPr id="17" name="Texto: span"/>
          <p:cNvSpPr txBox="1"/>
          <p:nvPr/>
        </p:nvSpPr>
        <p:spPr>
          <a:xfrm>
            <a:off x="1488378" y="5982226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8" name="Texto: it"/>
          <p:cNvSpPr txBox="1"/>
          <p:nvPr/>
        </p:nvSpPr>
        <p:spPr>
          <a:xfrm>
            <a:off x="2175867" y="5967671"/>
            <a:ext cx="6588621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Falta o básico na unidade prisional</a:t>
            </a:r>
          </a:p>
        </p:txBody>
      </p:sp>
      <p:sp>
        <p:nvSpPr>
          <p:cNvPr id="19" name="Texto: span"/>
          <p:cNvSpPr txBox="1"/>
          <p:nvPr/>
        </p:nvSpPr>
        <p:spPr>
          <a:xfrm>
            <a:off x="1456283" y="7624098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0" name="Texto: it"/>
          <p:cNvSpPr txBox="1"/>
          <p:nvPr/>
        </p:nvSpPr>
        <p:spPr>
          <a:xfrm>
            <a:off x="2175867" y="7349540"/>
            <a:ext cx="6717884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Saúde e vínculos com a família se desgastam</a:t>
            </a:r>
          </a:p>
        </p:txBody>
      </p:sp>
      <p:sp>
        <p:nvSpPr>
          <p:cNvPr id="21" name="Texto: span"/>
          <p:cNvSpPr txBox="1"/>
          <p:nvPr/>
        </p:nvSpPr>
        <p:spPr>
          <a:xfrm>
            <a:off x="1456618" y="9443075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2" name="Texto: it"/>
          <p:cNvSpPr txBox="1"/>
          <p:nvPr/>
        </p:nvSpPr>
        <p:spPr>
          <a:xfrm>
            <a:off x="2175867" y="9168518"/>
            <a:ext cx="7529370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FFFFFF"/>
                </a:solidFill>
                <a:latin typeface="Barlow"/>
                <a:ea typeface="Barlow"/>
                <a:cs typeface="Barlow"/>
              </a:rPr>
              <a:t>A pessoa sai sem apoio, e o ciclo pode recomeçar</a:t>
            </a:r>
          </a:p>
        </p:txBody>
      </p:sp>
      <p:sp>
        <p:nvSpPr>
          <p:cNvPr id="23" name="Texto: ponte"/>
          <p:cNvSpPr txBox="1"/>
          <p:nvPr/>
        </p:nvSpPr>
        <p:spPr>
          <a:xfrm>
            <a:off x="915442" y="11496457"/>
            <a:ext cx="4105454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vem esta semana?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Linha"/>
          <p:cNvCxnSpPr/>
          <p:nvPr/>
        </p:nvCxnSpPr>
        <p:spPr>
          <a:xfrm>
            <a:off x="915442" y="6684318"/>
            <a:ext cx="8456116" cy="0"/>
          </a:xfrm>
          <a:prstGeom prst="line">
            <a:avLst/>
          </a:prstGeom>
          <a:ln w="19050">
            <a:solidFill>
              <a:srgbClr val="DCE1EC"/>
            </a:solidFill>
          </a:ln>
        </p:spPr>
      </p:cxnSp>
      <p:cxnSp>
        <p:nvCxnSpPr>
          <p:cNvPr id="3" name="Linha"/>
          <p:cNvCxnSpPr/>
          <p:nvPr/>
        </p:nvCxnSpPr>
        <p:spPr>
          <a:xfrm>
            <a:off x="915442" y="8279755"/>
            <a:ext cx="8456116" cy="0"/>
          </a:xfrm>
          <a:prstGeom prst="line">
            <a:avLst/>
          </a:prstGeom>
          <a:ln w="19050">
            <a:solidFill>
              <a:srgbClr val="DCE1EC"/>
            </a:solidFill>
          </a:ln>
        </p:spPr>
      </p:cxnSp>
      <p:pic>
        <p:nvPicPr>
          <p:cNvPr id="4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031"/>
            <a:ext cx="380554" cy="380554"/>
          </a:xfrm>
          <a:prstGeom prst="rect">
            <a:avLst/>
          </a:prstGeom>
        </p:spPr>
      </p:pic>
      <p:sp>
        <p:nvSpPr>
          <p:cNvPr id="5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o: tag"/>
          <p:cNvSpPr txBox="1"/>
          <p:nvPr/>
        </p:nvSpPr>
        <p:spPr>
          <a:xfrm>
            <a:off x="915442" y="1018941"/>
            <a:ext cx="216564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Nesta semana</a:t>
            </a:r>
          </a:p>
        </p:txBody>
      </p:sp>
      <p:sp>
        <p:nvSpPr>
          <p:cNvPr id="12" name="Texto: h2"/>
          <p:cNvSpPr txBox="1"/>
          <p:nvPr/>
        </p:nvSpPr>
        <p:spPr>
          <a:xfrm>
            <a:off x="915442" y="3398593"/>
            <a:ext cx="5973068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Post no feed em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dias alternados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story todo dia.</a:t>
            </a:r>
          </a:p>
        </p:txBody>
      </p:sp>
      <p:sp>
        <p:nvSpPr>
          <p:cNvPr id="13" name="Texto: b"/>
          <p:cNvSpPr txBox="1"/>
          <p:nvPr/>
        </p:nvSpPr>
        <p:spPr>
          <a:xfrm>
            <a:off x="915442" y="6942727"/>
            <a:ext cx="1715929" cy="438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450" lang="pt-BR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Ter 20/10</a:t>
            </a:r>
          </a:p>
        </p:txBody>
      </p:sp>
      <p:sp>
        <p:nvSpPr>
          <p:cNvPr id="14" name="Texto: span"/>
          <p:cNvSpPr txBox="1"/>
          <p:nvPr/>
        </p:nvSpPr>
        <p:spPr>
          <a:xfrm>
            <a:off x="3008709" y="6998901"/>
            <a:ext cx="6444785" cy="10004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3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 que a Defensoria encontrou em Maringá</a:t>
            </a:r>
          </a:p>
        </p:txBody>
      </p:sp>
      <p:sp>
        <p:nvSpPr>
          <p:cNvPr id="15" name="Texto: b"/>
          <p:cNvSpPr txBox="1"/>
          <p:nvPr/>
        </p:nvSpPr>
        <p:spPr>
          <a:xfrm>
            <a:off x="915442" y="8538164"/>
            <a:ext cx="1693337" cy="438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450" lang="pt-BR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Qui 22/10</a:t>
            </a:r>
          </a:p>
        </p:txBody>
      </p:sp>
      <p:sp>
        <p:nvSpPr>
          <p:cNvPr id="16" name="Texto: span"/>
          <p:cNvSpPr txBox="1"/>
          <p:nvPr/>
        </p:nvSpPr>
        <p:spPr>
          <a:xfrm>
            <a:off x="3008709" y="8594339"/>
            <a:ext cx="4369028" cy="5002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93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 checklist da Triagem</a:t>
            </a:r>
          </a:p>
        </p:txBody>
      </p:sp>
      <p:sp>
        <p:nvSpPr>
          <p:cNvPr id="17" name="Texto: ponte"/>
          <p:cNvSpPr txBox="1"/>
          <p:nvPr/>
        </p:nvSpPr>
        <p:spPr>
          <a:xfrm>
            <a:off x="915442" y="11496308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12315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79946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83462" y="4903206"/>
            <a:ext cx="132007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terça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247552" y="5523264"/>
            <a:ext cx="7791896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 que a Defensoria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encontrou nas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unidades de Maringá.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903883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Dom 18/10: Quase 1 em cada 4 volta a ser condenado.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