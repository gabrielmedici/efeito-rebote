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Série Entenda o projeto · parte 3</a:t>
            </a:r>
          </a:p>
          <a:p>
            <a:r>
              <a:t>Escova de dente é direito de quem está preso?</a:t>
            </a:r>
          </a:p>
          <a:p/>
          <a:p>
            <a:r>
              <a:t>LEGENDA PRONTA</a:t>
            </a:r>
          </a:p>
          <a:p>
            <a:r>
              <a:t>A Lei de Execução Penal não cita escova de dente.</a:t>
            </a:r>
          </a:p>
          <a:p/>
          <a:p>
            <a:r>
              <a:t>O art. 12 diz que a assistência material inclui alimentação, vestuário e instalações higiênicas, e o art. 14 prevê atendimento médico, farmacêutico e odontológico. Em 2023, o STF reconheceu um cenário de violação massiva de direitos no sistema prisional, entre eles o direito à higiene (ADPF 347).</a:t>
            </a:r>
          </a:p>
          <a:p/>
          <a:p>
            <a:r>
              <a:t>Nas inspeções da Defensoria Pública do Paraná em 2025, a Penitenciária Estadual de Maringá estava sem pasta de dente, aparelho de barbear e escova. Na Colônia Penal Industrial, a direção relatou que o kit de higiene não tem chegado completo. Quando falta, o Conselho da Comunidade e as famílias cobrem parte.</a:t>
            </a:r>
          </a:p>
          <a:p/>
          <a:p>
            <a:r>
              <a:t>Na segunda, parte 4. Siga o perfil para acompanhar.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7845028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21129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4105488"/>
            <a:ext cx="4776668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Série Entenda o projeto · parte 3</a:t>
            </a:r>
          </a:p>
        </p:txBody>
      </p:sp>
      <p:sp>
        <p:nvSpPr>
          <p:cNvPr id="11" name="Texto: h1"/>
          <p:cNvSpPr txBox="1"/>
          <p:nvPr/>
        </p:nvSpPr>
        <p:spPr>
          <a:xfrm>
            <a:off x="915442" y="4645732"/>
            <a:ext cx="8409742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Escova de dente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é direito de quem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está preso?</a:t>
            </a:r>
          </a:p>
        </p:txBody>
      </p:sp>
      <p:sp>
        <p:nvSpPr>
          <p:cNvPr id="12" name="Texto: lead"/>
          <p:cNvSpPr txBox="1"/>
          <p:nvPr/>
        </p:nvSpPr>
        <p:spPr>
          <a:xfrm>
            <a:off x="915442" y="8835292"/>
            <a:ext cx="5324109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O que diz a Lei de Execução Penal, palavra por palavra.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496457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4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316587"/>
            <a:ext cx="8437066" cy="2988766"/>
          </a:xfrm>
          <a:prstGeom prst="roundRect">
            <a:avLst>
              <a:gd name="adj" fmla="val 6565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5567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074223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18941"/>
            <a:ext cx="2048917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que a lei diz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2964313"/>
            <a:ext cx="8451979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A lei fala em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instalações higiênicas.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5742792"/>
            <a:ext cx="7869144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Art. 12.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A assistência material ao preso e ao internado consistirá no fornecimento de alimentação, vestuário e instalações higiênicas.</a:t>
            </a:r>
          </a:p>
        </p:txBody>
      </p:sp>
      <p:sp>
        <p:nvSpPr>
          <p:cNvPr id="13" name="Texto: p"/>
          <p:cNvSpPr txBox="1"/>
          <p:nvPr/>
        </p:nvSpPr>
        <p:spPr>
          <a:xfrm>
            <a:off x="915442" y="8731558"/>
            <a:ext cx="8441612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Escova de dente não aparece na lista. O art. 14 inclui atendimento odontológico.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308"/>
            <a:ext cx="2866326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STF, o que diz?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6059388"/>
            <a:ext cx="8437066" cy="2988766"/>
          </a:xfrm>
          <a:prstGeom prst="roundRect">
            <a:avLst>
              <a:gd name="adj" fmla="val 6565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9339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30341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18941"/>
            <a:ext cx="1684660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Supremo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2773664"/>
            <a:ext cx="7948077" cy="28005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O STF reconheceu um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cenário de violação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massiva de direitos.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485593"/>
            <a:ext cx="7492535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“[...] são negados aos presos, por exemplo, os direitos à integridade física, alimentação,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higiene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, saúde, estudo e trabalho.”</a:t>
            </a:r>
          </a:p>
        </p:txBody>
      </p:sp>
      <p:sp>
        <p:nvSpPr>
          <p:cNvPr id="13" name="Texto: p"/>
          <p:cNvSpPr txBox="1"/>
          <p:nvPr/>
        </p:nvSpPr>
        <p:spPr>
          <a:xfrm>
            <a:off x="915442" y="9474360"/>
            <a:ext cx="6519535" cy="5522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ADPF 347, julgada em 04/10/2023.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308"/>
            <a:ext cx="2276475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em Maringá?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592663"/>
            <a:ext cx="8437066" cy="2436614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9491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303419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: on"/>
          <p:cNvSpPr/>
          <p:nvPr/>
        </p:nvSpPr>
        <p:spPr>
          <a:xfrm>
            <a:off x="8532614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18941"/>
            <a:ext cx="178501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Em Maringá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3240389"/>
            <a:ext cx="8654162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Nas inspeções de 2025,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faltaram itens básicos.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018868"/>
            <a:ext cx="7073807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Penitenciária Estadual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(13/05/2025): faltavam pasta de dente, aparelho de barbear e escova.</a:t>
            </a:r>
          </a:p>
        </p:txBody>
      </p:sp>
      <p:sp>
        <p:nvSpPr>
          <p:cNvPr id="13" name="Texto: p"/>
          <p:cNvSpPr txBox="1"/>
          <p:nvPr/>
        </p:nvSpPr>
        <p:spPr>
          <a:xfrm>
            <a:off x="915442" y="8455482"/>
            <a:ext cx="8557772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Na Colônia Penal Industrial, a direção relatou que o kit de higiene não tem chegado completo.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308"/>
            <a:ext cx="4399642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quando falta, quem cobre?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5374481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5828556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7193459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7470428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fim"/>
          <p:cNvSpPr/>
          <p:nvPr/>
        </p:nvSpPr>
        <p:spPr>
          <a:xfrm>
            <a:off x="924967" y="8658225"/>
            <a:ext cx="8437066" cy="1074093"/>
          </a:xfrm>
          <a:prstGeom prst="roundRect">
            <a:avLst>
              <a:gd name="adj" fmla="val 18267"/>
            </a:avLst>
          </a:prstGeom>
          <a:solidFill>
            <a:srgbClr val="1B3A8C"/>
          </a:solidFill>
          <a:ln w="19050">
            <a:solidFill>
              <a:srgbClr val="1B3A8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031"/>
            <a:ext cx="380554" cy="380554"/>
          </a:xfrm>
          <a:prstGeom prst="rect">
            <a:avLst/>
          </a:prstGeom>
        </p:spPr>
      </p:pic>
      <p:sp>
        <p:nvSpPr>
          <p:cNvPr id="8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8303419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8532614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: on"/>
          <p:cNvSpPr/>
          <p:nvPr/>
        </p:nvSpPr>
        <p:spPr>
          <a:xfrm>
            <a:off x="876180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o: tag"/>
          <p:cNvSpPr txBox="1"/>
          <p:nvPr/>
        </p:nvSpPr>
        <p:spPr>
          <a:xfrm>
            <a:off x="915442" y="1018941"/>
            <a:ext cx="281819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Quem cobre a falta</a:t>
            </a:r>
          </a:p>
        </p:txBody>
      </p:sp>
      <p:sp>
        <p:nvSpPr>
          <p:cNvPr id="15" name="Texto: h2"/>
          <p:cNvSpPr txBox="1"/>
          <p:nvPr/>
        </p:nvSpPr>
        <p:spPr>
          <a:xfrm>
            <a:off x="915442" y="3022207"/>
            <a:ext cx="7353970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Quando o item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falta, alguém cobre.</a:t>
            </a:r>
          </a:p>
        </p:txBody>
      </p:sp>
      <p:sp>
        <p:nvSpPr>
          <p:cNvPr id="16" name="Texto: span"/>
          <p:cNvSpPr txBox="1"/>
          <p:nvPr/>
        </p:nvSpPr>
        <p:spPr>
          <a:xfrm>
            <a:off x="1488378" y="5952609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7" name="Texto: li"/>
          <p:cNvSpPr txBox="1"/>
          <p:nvPr/>
        </p:nvSpPr>
        <p:spPr>
          <a:xfrm>
            <a:off x="2175867" y="5678052"/>
            <a:ext cx="7153058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O Conselho da Comunidade repõe parte dos itens</a:t>
            </a:r>
          </a:p>
        </p:txBody>
      </p:sp>
      <p:sp>
        <p:nvSpPr>
          <p:cNvPr id="18" name="Texto: span"/>
          <p:cNvSpPr txBox="1"/>
          <p:nvPr/>
        </p:nvSpPr>
        <p:spPr>
          <a:xfrm>
            <a:off x="1456283" y="7594481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19" name="Texto: li"/>
          <p:cNvSpPr txBox="1"/>
          <p:nvPr/>
        </p:nvSpPr>
        <p:spPr>
          <a:xfrm>
            <a:off x="2175867" y="7579926"/>
            <a:ext cx="6756261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Famílias compram e levam na visita</a:t>
            </a:r>
          </a:p>
        </p:txBody>
      </p:sp>
      <p:sp>
        <p:nvSpPr>
          <p:cNvPr id="20" name="Texto: fim"/>
          <p:cNvSpPr txBox="1"/>
          <p:nvPr/>
        </p:nvSpPr>
        <p:spPr>
          <a:xfrm>
            <a:off x="1243012" y="8961796"/>
            <a:ext cx="8606686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FFFFFF"/>
                </a:solidFill>
                <a:latin typeface="Barlow"/>
                <a:ea typeface="Barlow"/>
                <a:cs typeface="Barlow"/>
              </a:rPr>
              <a:t>O custo do básico passa para quem está fora.</a:t>
            </a:r>
          </a:p>
        </p:txBody>
      </p:sp>
      <p:sp>
        <p:nvSpPr>
          <p:cNvPr id="21" name="Texto: ponte"/>
          <p:cNvSpPr txBox="1"/>
          <p:nvPr/>
        </p:nvSpPr>
        <p:spPr>
          <a:xfrm>
            <a:off x="915442" y="1149630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3638721" y="5369931"/>
            <a:ext cx="3009409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Na segunda, parte 4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960901" y="5989989"/>
            <a:ext cx="8365048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Quem paga a conta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quando falta o básico?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572105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Sex 16/10: Escova de dente é direito de quem está preso?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