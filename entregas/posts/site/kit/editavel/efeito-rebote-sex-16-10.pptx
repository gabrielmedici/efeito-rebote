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3</a:t>
            </a:r>
          </a:p>
          <a:p>
            <a:r>
              <a:t>Escova de dente é direito de quem está preso?</a:t>
            </a:r>
          </a:p>
          <a:p/>
          <a:p>
            <a:r>
              <a:t>LEGENDA PRONTA</a:t>
            </a:r>
          </a:p>
          <a:p>
            <a:r>
              <a:t>A Lei de Execução Penal não cita escova de dente.</a:t>
            </a:r>
          </a:p>
          <a:p/>
          <a:p>
            <a:r>
              <a:t>O art. 12 diz que a assistência material inclui alimentação, vestuário e instalações higiênicas, e o art. 14 prevê atendimento médico, farmacêutico e odontológico. Em 2023, o STF reconheceu um cenário de violação massiva de direitos no sistema prisional, entre eles o direito à higiene (ADPF 347).</a:t>
            </a:r>
          </a:p>
          <a:p/>
          <a:p>
            <a:r>
              <a:t>Nas inspeções da Defensoria Pública do Paraná em 2025, a Penitenciária Estadual de Maringá estava sem pasta de dente, aparelho de barbear e escova. Na Colônia Penal Industrial, a direção relatou que o kit de higiene não tem chegado completo. Quando falta, o Conselho da Comunidade e as famílias cobrem parte.</a:t>
            </a:r>
          </a:p>
          <a:p/>
          <a:p>
            <a:r>
              <a:t>Na segunda, parte 4.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166387"/>
            <a:ext cx="477666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Série Entenda o projeto · parte 3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921833"/>
            <a:ext cx="8409742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Escova de dente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é direito de quem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está preso?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795275"/>
            <a:ext cx="5324109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diz a Lei de Execução Penal, palavra por palavra.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51548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316587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67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79840"/>
            <a:ext cx="204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que a lei diz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173880"/>
            <a:ext cx="845197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lei fala 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instalações higiênicas.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5670762"/>
            <a:ext cx="7869144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Art. 12.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A assistência material ao preso e ao internado consistirá no fornecimento de alimentação, vestuário e instalações higiênicas.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8659528"/>
            <a:ext cx="8441612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 dente não aparece na lista. O art. 14 inclui atendimento odontológico.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339"/>
            <a:ext cx="286632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STF, o que diz?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388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39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79840"/>
            <a:ext cx="168466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Supremo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2983231"/>
            <a:ext cx="7948077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STF reconheceu um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cenário de violação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massiva de direitos.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13563"/>
            <a:ext cx="7492535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“[...] são negados aos presos, por exemplo, os direitos à integridade física, alimentação,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higiene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, saúde, estudo e trabalho.”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9402330"/>
            <a:ext cx="6519535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ADPF 347, julgada em 04/10/2023.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339"/>
            <a:ext cx="227647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em Maringá?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592663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91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79840"/>
            <a:ext cx="178501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Em Maringá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449956"/>
            <a:ext cx="8654162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Nas inspeções de 2025,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faltaram itens básicos.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5946838"/>
            <a:ext cx="7073807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Penitenciária Estadual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(13/05/2025): faltavam pasta de dente, aparelho de barbear e escova.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8383452"/>
            <a:ext cx="8557772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 Colônia Penal Industrial, a direção relatou que o kit de higiene não tem chegado completo.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339"/>
            <a:ext cx="439964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quando falta, quem cobre?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374481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2855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193459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47042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fim"/>
          <p:cNvSpPr/>
          <p:nvPr/>
        </p:nvSpPr>
        <p:spPr>
          <a:xfrm>
            <a:off x="924967" y="8658225"/>
            <a:ext cx="8437066" cy="1074093"/>
          </a:xfrm>
          <a:prstGeom prst="roundRect">
            <a:avLst>
              <a:gd name="adj" fmla="val 1826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8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79840"/>
            <a:ext cx="281819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Quem cobre a falta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231774"/>
            <a:ext cx="735397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o item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falta, alguém cobre.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723209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li"/>
          <p:cNvSpPr txBox="1"/>
          <p:nvPr/>
        </p:nvSpPr>
        <p:spPr>
          <a:xfrm>
            <a:off x="2175867" y="5638035"/>
            <a:ext cx="7153058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Conselho da Comunidade repõe parte dos itens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7365081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li"/>
          <p:cNvSpPr txBox="1"/>
          <p:nvPr/>
        </p:nvSpPr>
        <p:spPr>
          <a:xfrm>
            <a:off x="2175867" y="7539910"/>
            <a:ext cx="675626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Famílias compram e levam na visita</a:t>
            </a:r>
          </a:p>
        </p:txBody>
      </p:sp>
      <p:sp>
        <p:nvSpPr>
          <p:cNvPr id="20" name="Texto: fim"/>
          <p:cNvSpPr txBox="1"/>
          <p:nvPr/>
        </p:nvSpPr>
        <p:spPr>
          <a:xfrm>
            <a:off x="1243012" y="8921779"/>
            <a:ext cx="860668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O custo do básico passa para quem está fora.</a:t>
            </a:r>
          </a:p>
        </p:txBody>
      </p:sp>
      <p:sp>
        <p:nvSpPr>
          <p:cNvPr id="21" name="Texto: ponte"/>
          <p:cNvSpPr txBox="1"/>
          <p:nvPr/>
        </p:nvSpPr>
        <p:spPr>
          <a:xfrm>
            <a:off x="915442" y="11515339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638721" y="5430830"/>
            <a:ext cx="300940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Na segunda, parte 4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960901" y="6199556"/>
            <a:ext cx="836504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paga a conta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quando falta o básico?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67086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16/10: Escova de dente é direito de quem está preso?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