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Com R$ 5, você concorre a um tablet.</a:t>
            </a:r>
          </a:p>
          <a:p/>
          <a:p>
            <a:r>
              <a:t>LEGENDA PRONTA</a:t>
            </a:r>
          </a:p>
          <a:p>
            <a:r>
              <a:t>Com R$ 5, você concorre a um tablet e ajuda a comprar itens de higiene.</a:t>
            </a:r>
          </a:p>
          <a:p/>
          <a:p>
            <a:r>
              <a:t>Funciona assim: você compra um bilhete com um aluno da turma, guarda o canhoto com o seu número e acompanha o sorteio ao vivo aqui no perfil, em 02/11, com ata e testemunhas. A lista dos números participantes, sem dados pessoais, sai em 01/11.</a:t>
            </a:r>
          </a:p>
          <a:p/>
          <a:p>
            <a:r>
              <a:t>O prêmio é um tablet Samsung Galaxy Tab A11+ ou equivalente, conforme o regulamento. Descontado o custo do prêmio, o valor arrecadado compra itens de higiene para as unidades prisionais de Maringá, com nota fiscal e prestação de contas publicada aqui.</a:t>
            </a:r>
          </a:p>
          <a:p/>
          <a:p>
            <a:r>
              <a:t>Regulamento: [PENDENTE: onde fica publicado]</a:t>
            </a:r>
          </a:p>
          <a:p/>
          <a:p>
            <a:r>
              <a:t>Fale com um aluno da turma e garanta o seu número.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031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3845336"/>
            <a:ext cx="318343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Ação de arrecadação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4385580"/>
            <a:ext cx="6996261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Com R$ 5,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você concorre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um tablet.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8575140"/>
            <a:ext cx="5240765" cy="1560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E ajuda a comprar itens de higiene para as unidades prisionais de Maringá.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308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4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4824859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278934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6643836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692080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8108603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8385572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215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o: tag"/>
          <p:cNvSpPr txBox="1"/>
          <p:nvPr/>
        </p:nvSpPr>
        <p:spPr>
          <a:xfrm>
            <a:off x="915442" y="1018941"/>
            <a:ext cx="228891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Como funciona</a:t>
            </a:r>
          </a:p>
        </p:txBody>
      </p:sp>
      <p:sp>
        <p:nvSpPr>
          <p:cNvPr id="16" name="Texto: h2"/>
          <p:cNvSpPr txBox="1"/>
          <p:nvPr/>
        </p:nvSpPr>
        <p:spPr>
          <a:xfrm>
            <a:off x="915442" y="3406035"/>
            <a:ext cx="4629820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Em 3 passos</a:t>
            </a:r>
          </a:p>
        </p:txBody>
      </p:sp>
      <p:sp>
        <p:nvSpPr>
          <p:cNvPr id="17" name="Texto: span"/>
          <p:cNvSpPr txBox="1"/>
          <p:nvPr/>
        </p:nvSpPr>
        <p:spPr>
          <a:xfrm>
            <a:off x="1488378" y="5402987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8" name="Texto: li"/>
          <p:cNvSpPr txBox="1"/>
          <p:nvPr/>
        </p:nvSpPr>
        <p:spPr>
          <a:xfrm>
            <a:off x="2175867" y="5128430"/>
            <a:ext cx="6821394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Compre um bilhete com um aluno da turma (R$ 5,00)</a:t>
            </a:r>
          </a:p>
        </p:txBody>
      </p:sp>
      <p:sp>
        <p:nvSpPr>
          <p:cNvPr id="19" name="Texto: span"/>
          <p:cNvSpPr txBox="1"/>
          <p:nvPr/>
        </p:nvSpPr>
        <p:spPr>
          <a:xfrm>
            <a:off x="1456283" y="7044859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0" name="Texto: li"/>
          <p:cNvSpPr txBox="1"/>
          <p:nvPr/>
        </p:nvSpPr>
        <p:spPr>
          <a:xfrm>
            <a:off x="2175867" y="7030304"/>
            <a:ext cx="6983328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Guarde o canhoto com o seu número</a:t>
            </a:r>
          </a:p>
        </p:txBody>
      </p:sp>
      <p:sp>
        <p:nvSpPr>
          <p:cNvPr id="21" name="Texto: span"/>
          <p:cNvSpPr txBox="1"/>
          <p:nvPr/>
        </p:nvSpPr>
        <p:spPr>
          <a:xfrm>
            <a:off x="1456618" y="8509625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2" name="Texto: li"/>
          <p:cNvSpPr txBox="1"/>
          <p:nvPr/>
        </p:nvSpPr>
        <p:spPr>
          <a:xfrm>
            <a:off x="2175867" y="8495071"/>
            <a:ext cx="7263765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Acompanhe o sorteio ao vivo em 02/11</a:t>
            </a:r>
          </a:p>
        </p:txBody>
      </p:sp>
      <p:sp>
        <p:nvSpPr>
          <p:cNvPr id="23" name="Texto: ponte"/>
          <p:cNvSpPr txBox="1"/>
          <p:nvPr/>
        </p:nvSpPr>
        <p:spPr>
          <a:xfrm>
            <a:off x="915442" y="11496457"/>
            <a:ext cx="2594238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Qual é o prêmio?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678091"/>
            <a:ext cx="8437066" cy="1884462"/>
          </a:xfrm>
          <a:prstGeom prst="roundRect">
            <a:avLst>
              <a:gd name="adj" fmla="val 1041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685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39194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prêmio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4259266"/>
            <a:ext cx="3787363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Um tablet.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104296"/>
            <a:ext cx="7889310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Samsung Galaxy Tab A11+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(11", Wi-Fi) ou equivalente, conforme o regulamento.</a:t>
            </a:r>
          </a:p>
        </p:txBody>
      </p:sp>
      <p:sp>
        <p:nvSpPr>
          <p:cNvPr id="13" name="Texto: p"/>
          <p:cNvSpPr txBox="1"/>
          <p:nvPr/>
        </p:nvSpPr>
        <p:spPr>
          <a:xfrm>
            <a:off x="915442" y="7988757"/>
            <a:ext cx="7583656" cy="5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retirada pode ser feita em até 30 dias.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4267855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dinheiro, para onde vai?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234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218283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Transparência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849221"/>
            <a:ext cx="9078501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Para onde vai o dinheiro.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6294647"/>
            <a:ext cx="8630251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Descontado o custo do prêmio, o valor compra itens de higiene, com nota fiscal. A prestação de contas será publicada aqui.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823159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as datas?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4470648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492472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6289625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6743700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fim"/>
          <p:cNvSpPr/>
          <p:nvPr/>
        </p:nvSpPr>
        <p:spPr>
          <a:xfrm>
            <a:off x="924967" y="8108603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1B3A8C"/>
          </a:solidFill>
          <a:ln w="19050">
            <a:solidFill>
              <a:srgbClr val="1B3A8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8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o: tag"/>
          <p:cNvSpPr txBox="1"/>
          <p:nvPr/>
        </p:nvSpPr>
        <p:spPr>
          <a:xfrm>
            <a:off x="915442" y="1018941"/>
            <a:ext cx="91898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Datas</a:t>
            </a:r>
          </a:p>
        </p:txBody>
      </p:sp>
      <p:sp>
        <p:nvSpPr>
          <p:cNvPr id="15" name="Texto: h2"/>
          <p:cNvSpPr txBox="1"/>
          <p:nvPr/>
        </p:nvSpPr>
        <p:spPr>
          <a:xfrm>
            <a:off x="915442" y="3051824"/>
            <a:ext cx="8611270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Duas datas para anotar</a:t>
            </a:r>
          </a:p>
        </p:txBody>
      </p:sp>
      <p:sp>
        <p:nvSpPr>
          <p:cNvPr id="16" name="Texto: span"/>
          <p:cNvSpPr txBox="1"/>
          <p:nvPr/>
        </p:nvSpPr>
        <p:spPr>
          <a:xfrm>
            <a:off x="1488378" y="5048776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7" name="Texto: li"/>
          <p:cNvSpPr txBox="1"/>
          <p:nvPr/>
        </p:nvSpPr>
        <p:spPr>
          <a:xfrm>
            <a:off x="2175867" y="4774219"/>
            <a:ext cx="6985998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01/11: lista dos números participantes, sem dados pessoais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56283" y="6867754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19" name="Texto: li"/>
          <p:cNvSpPr txBox="1"/>
          <p:nvPr/>
        </p:nvSpPr>
        <p:spPr>
          <a:xfrm>
            <a:off x="2175867" y="6593196"/>
            <a:ext cx="6657088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02/11: sorteio ao vivo, com ata e testemunhas</a:t>
            </a:r>
          </a:p>
        </p:txBody>
      </p:sp>
      <p:sp>
        <p:nvSpPr>
          <p:cNvPr id="20" name="Texto: fim"/>
          <p:cNvSpPr txBox="1"/>
          <p:nvPr/>
        </p:nvSpPr>
        <p:spPr>
          <a:xfrm>
            <a:off x="1243012" y="8412173"/>
            <a:ext cx="7428836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FFFFFF"/>
                </a:solidFill>
                <a:latin typeface="Barlow"/>
                <a:ea typeface="Barlow"/>
                <a:cs typeface="Barlow"/>
              </a:rPr>
              <a:t>Regulamento: [PENDENTE: onde fica publicado]</a:t>
            </a:r>
          </a:p>
        </p:txBody>
      </p:sp>
      <p:sp>
        <p:nvSpPr>
          <p:cNvPr id="21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342977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915442" y="8085832"/>
            <a:ext cx="8456116" cy="156358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68735" y="5123026"/>
            <a:ext cx="254938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sexta, parte 5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380001" y="5743083"/>
            <a:ext cx="7526848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 caminhos que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ajudam a não voltar.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1767780" y="8325199"/>
            <a:ext cx="7354537" cy="987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Garanta seu número com um aluno da turma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Qua 28/10: Com R$ 5, você concorre a um tablet.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