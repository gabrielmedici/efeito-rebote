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Série Entenda o projeto · parte 1</a:t>
            </a:r>
          </a:p>
          <a:p>
            <a:r>
              <a:t>Quase 1 em cada 4 volta a ser condenado.</a:t>
            </a:r>
          </a:p>
          <a:p/>
          <a:p>
            <a:r>
              <a:t>LEGENDA PRONTA</a:t>
            </a:r>
          </a:p>
          <a:p>
            <a:r>
              <a:t>24,4%. Esse foi o percentual de pessoas que voltaram a ser condenadas em até cinco anos, num estudo do Ipea para o CNJ em cinco estados, entre eles o Paraná.</a:t>
            </a:r>
          </a:p>
          <a:p/>
          <a:p>
            <a:r>
              <a:t>Pelo Código Penal, reincidir é cometer um novo crime depois de uma condenação definitiva. Outras pesquisas contam quem volta à prisão, mesmo sem nova condenação, e chegam a 36% a 42%. São medidas diferentes, e por isso os números mudam de um estudo para outro.</a:t>
            </a:r>
          </a:p>
          <a:p/>
          <a:p>
            <a:r>
              <a:t>O nome do projeto vem desse movimento. Quando falta o básico dentro do sistema prisional, o custo volta para fora, na saúde, na segurança e no orçamento das famílias.</a:t>
            </a:r>
          </a:p>
          <a:p/>
          <a:p>
            <a:r>
              <a:t>Na quarta, parte 2. Siga o perfil para acompanhar a série.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530058"/>
            <a:ext cx="471707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Série Entenda o projeto · parte 1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177903"/>
            <a:ext cx="7483629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16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Quase 1 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cada 4 volta 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ser condenado.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209404"/>
            <a:ext cx="5428214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é reincidência e por que ela também pesa do lado de fora.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10102640"/>
            <a:ext cx="4245426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BBC4DD"/>
                </a:solidFill>
                <a:latin typeface="Barlow"/>
                <a:ea typeface="Barlow"/>
                <a:cs typeface="Barlow"/>
              </a:rPr>
              <a:t>Ipea para o CNJ, 2015, em 5 estados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44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5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726861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17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39866"/>
            <a:ext cx="164471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conceito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144701"/>
            <a:ext cx="8402702" cy="37340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16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Reincidir é cometer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novo crime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depois de uma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condenação definitiva.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7649282"/>
            <a:ext cx="7994309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É o que diz 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Código Penal, art. 63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. Nas pesquisas, a palavra às vezes ganha sentido mais amplo, e por isso os números mudam.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48"/>
            <a:ext cx="469645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quantas pessoas reincidem?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04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39866"/>
            <a:ext cx="148133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número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2657248"/>
            <a:ext cx="7100709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24,4%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5466998"/>
            <a:ext cx="7632115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16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voltaram a ser condenados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até 5 anos.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264561"/>
            <a:ext cx="8475172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Estudo do Ipea para o CNJ em 5 estados, entre eles o Paraná. Pesquisas que contam quem volta à prisão, mesmo sem nova condenação, chegam a 36% a 42%.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9853651"/>
            <a:ext cx="7231514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Ipea, 2015 (reincidência legal) · Depen/UFPE, 2022 (reentrada)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299"/>
            <a:ext cx="525699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de onde vem o nome do projeto?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58120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85817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704597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50004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volta"/>
          <p:cNvSpPr/>
          <p:nvPr/>
        </p:nvSpPr>
        <p:spPr>
          <a:xfrm>
            <a:off x="924967" y="8864947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9319022"/>
            <a:ext cx="686098" cy="68609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126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o: tag"/>
          <p:cNvSpPr txBox="1"/>
          <p:nvPr/>
        </p:nvSpPr>
        <p:spPr>
          <a:xfrm>
            <a:off x="915442" y="1039866"/>
            <a:ext cx="117535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nome</a:t>
            </a:r>
          </a:p>
        </p:txBody>
      </p:sp>
      <p:sp>
        <p:nvSpPr>
          <p:cNvPr id="16" name="Texto: h2"/>
          <p:cNvSpPr txBox="1"/>
          <p:nvPr/>
        </p:nvSpPr>
        <p:spPr>
          <a:xfrm>
            <a:off x="915442" y="2390738"/>
            <a:ext cx="7936453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16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Quando falta o básico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lá dentro, o custo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 para fora.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1488378" y="5858001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5022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8" name="Texto: li"/>
          <p:cNvSpPr txBox="1"/>
          <p:nvPr/>
        </p:nvSpPr>
        <p:spPr>
          <a:xfrm>
            <a:off x="2175867" y="5938138"/>
            <a:ext cx="658862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Falta o básico na unidade prisional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1456283" y="7499873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5022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0" name="Texto: li"/>
          <p:cNvSpPr txBox="1"/>
          <p:nvPr/>
        </p:nvSpPr>
        <p:spPr>
          <a:xfrm>
            <a:off x="2175867" y="7320007"/>
            <a:ext cx="6717884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Saúde e vínculos com a família se desgastam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56618" y="9318850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50225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2" name="Texto: volta"/>
          <p:cNvSpPr txBox="1"/>
          <p:nvPr/>
        </p:nvSpPr>
        <p:spPr>
          <a:xfrm>
            <a:off x="2175867" y="9138985"/>
            <a:ext cx="752937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A pessoa sai sem apoio, e o ciclo pode recomeçar</a:t>
            </a:r>
          </a:p>
        </p:txBody>
      </p:sp>
      <p:sp>
        <p:nvSpPr>
          <p:cNvPr id="23" name="Texto: ponte"/>
          <p:cNvSpPr txBox="1"/>
          <p:nvPr/>
        </p:nvSpPr>
        <p:spPr>
          <a:xfrm>
            <a:off x="915442" y="11496448"/>
            <a:ext cx="301874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vem por aí?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Linha"/>
          <p:cNvCxnSpPr/>
          <p:nvPr/>
        </p:nvCxnSpPr>
        <p:spPr>
          <a:xfrm>
            <a:off x="915442" y="5169843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cxnSp>
        <p:nvCxnSpPr>
          <p:cNvPr id="3" name="Linha"/>
          <p:cNvCxnSpPr/>
          <p:nvPr/>
        </p:nvCxnSpPr>
        <p:spPr>
          <a:xfrm>
            <a:off x="915442" y="6765280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cxnSp>
        <p:nvCxnSpPr>
          <p:cNvPr id="4" name="Linha"/>
          <p:cNvCxnSpPr/>
          <p:nvPr/>
        </p:nvCxnSpPr>
        <p:spPr>
          <a:xfrm>
            <a:off x="915442" y="8360718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pic>
        <p:nvPicPr>
          <p:cNvPr id="5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6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o: tag"/>
          <p:cNvSpPr txBox="1"/>
          <p:nvPr/>
        </p:nvSpPr>
        <p:spPr>
          <a:xfrm>
            <a:off x="915442" y="1039866"/>
            <a:ext cx="345601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Nas próximas semanas</a:t>
            </a:r>
          </a:p>
        </p:txBody>
      </p:sp>
      <p:sp>
        <p:nvSpPr>
          <p:cNvPr id="13" name="Texto: h2"/>
          <p:cNvSpPr txBox="1"/>
          <p:nvPr/>
        </p:nvSpPr>
        <p:spPr>
          <a:xfrm>
            <a:off x="915442" y="2912827"/>
            <a:ext cx="8559864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16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dado com fonte,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três vezes por semana.</a:t>
            </a:r>
          </a:p>
        </p:txBody>
      </p:sp>
      <p:sp>
        <p:nvSpPr>
          <p:cNvPr id="14" name="Texto: b"/>
          <p:cNvSpPr txBox="1"/>
          <p:nvPr/>
        </p:nvSpPr>
        <p:spPr>
          <a:xfrm>
            <a:off x="915442" y="5462549"/>
            <a:ext cx="1750635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Qua 14/10</a:t>
            </a:r>
          </a:p>
        </p:txBody>
      </p:sp>
      <p:sp>
        <p:nvSpPr>
          <p:cNvPr id="15" name="Texto: span"/>
          <p:cNvSpPr txBox="1"/>
          <p:nvPr/>
        </p:nvSpPr>
        <p:spPr>
          <a:xfrm>
            <a:off x="3008709" y="5464897"/>
            <a:ext cx="6733734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Por que cuidar de quem está preso também protege você</a:t>
            </a:r>
          </a:p>
        </p:txBody>
      </p:sp>
      <p:sp>
        <p:nvSpPr>
          <p:cNvPr id="16" name="Texto: b"/>
          <p:cNvSpPr txBox="1"/>
          <p:nvPr/>
        </p:nvSpPr>
        <p:spPr>
          <a:xfrm>
            <a:off x="915442" y="7057987"/>
            <a:ext cx="1712491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Sex 16/10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3008709" y="7060335"/>
            <a:ext cx="6342168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 de dente é direito de quem está preso?</a:t>
            </a:r>
          </a:p>
        </p:txBody>
      </p:sp>
      <p:sp>
        <p:nvSpPr>
          <p:cNvPr id="18" name="Texto: b"/>
          <p:cNvSpPr txBox="1"/>
          <p:nvPr/>
        </p:nvSpPr>
        <p:spPr>
          <a:xfrm>
            <a:off x="915442" y="8653424"/>
            <a:ext cx="1711181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Seg 19/10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3008709" y="8655772"/>
            <a:ext cx="6419335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Quem paga a conta quando falta o básico</a:t>
            </a:r>
          </a:p>
        </p:txBody>
      </p:sp>
      <p:sp>
        <p:nvSpPr>
          <p:cNvPr id="20" name="Texto: ponte"/>
          <p:cNvSpPr txBox="1"/>
          <p:nvPr/>
        </p:nvSpPr>
        <p:spPr>
          <a:xfrm>
            <a:off x="915442" y="1149644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79946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784751" y="4924131"/>
            <a:ext cx="271734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Na quarta, parte 2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002811" y="5618522"/>
            <a:ext cx="8281228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8166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que cuidar de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quem está preso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também protege você.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9078682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Seg 12/10: Quase 1 em cada 4 volta a ser condenado.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